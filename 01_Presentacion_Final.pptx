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7.xml"/><Relationship Id="rId33" Type="http://schemas.openxmlformats.org/officeDocument/2006/relationships/font" Target="fonts/Roboto-boldItalic.fntdata"/><Relationship Id="rId10" Type="http://schemas.openxmlformats.org/officeDocument/2006/relationships/slide" Target="slides/slide6.xml"/><Relationship Id="rId32" Type="http://schemas.openxmlformats.org/officeDocument/2006/relationships/font" Target="fonts/Roboto-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477b88eb2_2_1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f477b88eb2_2_1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477b88eb2_2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f477b88eb2_2_14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477b88eb2_2_1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f477b88eb2_2_14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477b88eb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f477b88eb2_6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477b88eb2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f477b88eb2_5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f477b88eb2_5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f477b88eb2_5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477b88eb2_2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f477b88eb2_2_14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477b88eb2_2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f477b88eb2_2_14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477b88eb2_2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f477b88eb2_2_14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477b88eb2_2_1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3f477b88eb2_2_14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48011f7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f48011f7d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500"/>
          </a:xfrm>
          <a:prstGeom prst="rect">
            <a:avLst/>
          </a:prstGeom>
          <a:noFill/>
          <a:ln>
            <a:noFill/>
          </a:ln>
        </p:spPr>
      </p:sp>
      <p:sp>
        <p:nvSpPr>
          <p:cNvPr id="64" name="Google Shape;64;p1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fade thruBlk="1"/>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28.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19.png"/><Relationship Id="rId5"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20.png"/><Relationship Id="rId5"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9.png"/><Relationship Id="rId5"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3.png"/><Relationship Id="rId7" Type="http://schemas.openxmlformats.org/officeDocument/2006/relationships/image" Target="../media/image17.png"/><Relationship Id="rId8"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EscuelaIT Duoc UC - Escuela de Informática y Telecomunicaciones Duoc UC - Duoc  UC | LinkedIn" id="84" name="Google Shape;84;p13"/>
          <p:cNvPicPr preferRelativeResize="0"/>
          <p:nvPr/>
        </p:nvPicPr>
        <p:blipFill rotWithShape="1">
          <a:blip r:embed="rId3">
            <a:alphaModFix/>
          </a:blip>
          <a:srcRect b="0" l="0" r="0" t="0"/>
          <a:stretch/>
        </p:blipFill>
        <p:spPr>
          <a:xfrm>
            <a:off x="8024529" y="495097"/>
            <a:ext cx="3141406" cy="785352"/>
          </a:xfrm>
          <a:prstGeom prst="rect">
            <a:avLst/>
          </a:prstGeom>
          <a:noFill/>
          <a:ln>
            <a:noFill/>
          </a:ln>
        </p:spPr>
      </p:pic>
      <p:sp>
        <p:nvSpPr>
          <p:cNvPr id="85" name="Google Shape;85;p13"/>
          <p:cNvSpPr txBox="1"/>
          <p:nvPr/>
        </p:nvSpPr>
        <p:spPr>
          <a:xfrm>
            <a:off x="1" y="2707792"/>
            <a:ext cx="12192000" cy="1816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4400" u="none" cap="none" strike="noStrike">
                <a:solidFill>
                  <a:schemeClr val="dk1"/>
                </a:solidFill>
                <a:latin typeface="Calibri"/>
                <a:ea typeface="Calibri"/>
                <a:cs typeface="Calibri"/>
                <a:sym typeface="Calibri"/>
              </a:rPr>
              <a:t>Software de gestión del edificio </a:t>
            </a:r>
            <a:endParaRPr b="0" i="0" sz="4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00000"/>
              </a:buClr>
              <a:buFont typeface="Arial"/>
              <a:buNone/>
            </a:pPr>
            <a:r>
              <a:rPr b="0" i="0" lang="es-CL" sz="4400" u="none" cap="none" strike="noStrike">
                <a:solidFill>
                  <a:schemeClr val="dk1"/>
                </a:solidFill>
                <a:latin typeface="Calibri"/>
                <a:ea typeface="Calibri"/>
                <a:cs typeface="Calibri"/>
                <a:sym typeface="Calibri"/>
              </a:rPr>
              <a:t>“El Mirador”</a:t>
            </a:r>
            <a:endParaRPr/>
          </a:p>
          <a:p>
            <a:pPr indent="0" lvl="0" marL="0" marR="0" rtl="0" algn="ctr">
              <a:spcBef>
                <a:spcPts val="0"/>
              </a:spcBef>
              <a:spcAft>
                <a:spcPts val="0"/>
              </a:spcAft>
              <a:buNone/>
            </a:pPr>
            <a:r>
              <a:rPr b="0" i="0" lang="es-CL" sz="2400" u="none" cap="none" strike="noStrike">
                <a:solidFill>
                  <a:schemeClr val="dk1"/>
                </a:solidFill>
                <a:latin typeface="Calibri"/>
                <a:ea typeface="Calibri"/>
                <a:cs typeface="Calibri"/>
                <a:sym typeface="Calibri"/>
              </a:rPr>
              <a:t>INGENIERÍA DE SOFTWARE | RQY1102</a:t>
            </a:r>
            <a:endParaRPr b="0" i="0" sz="2400" u="none" cap="none" strike="noStrike">
              <a:solidFill>
                <a:schemeClr val="dk1"/>
              </a:solidFill>
              <a:latin typeface="Calibri"/>
              <a:ea typeface="Calibri"/>
              <a:cs typeface="Calibri"/>
              <a:sym typeface="Calibri"/>
            </a:endParaRPr>
          </a:p>
        </p:txBody>
      </p:sp>
      <p:pic>
        <p:nvPicPr>
          <p:cNvPr descr="EscuelaIT Duoc UC - Escuela de Informática y Telecomunicaciones Duoc UC - Duoc  UC | LinkedIn" id="86" name="Google Shape;86;p13"/>
          <p:cNvPicPr preferRelativeResize="0"/>
          <p:nvPr/>
        </p:nvPicPr>
        <p:blipFill rotWithShape="1">
          <a:blip r:embed="rId3">
            <a:alphaModFix/>
          </a:blip>
          <a:srcRect b="0" l="0" r="0" t="0"/>
          <a:stretch/>
        </p:blipFill>
        <p:spPr>
          <a:xfrm>
            <a:off x="6097963" y="4463247"/>
            <a:ext cx="4536009" cy="1144785"/>
          </a:xfrm>
          <a:prstGeom prst="rect">
            <a:avLst/>
          </a:prstGeom>
          <a:noFill/>
          <a:ln>
            <a:noFill/>
          </a:ln>
        </p:spPr>
      </p:pic>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EscuelaIT Duoc UC - Escuela de Informática y Telecomunicaciones Duoc UC - Duoc  UC | LinkedIn" id="91" name="Google Shape;91;p1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grpSp>
        <p:nvGrpSpPr>
          <p:cNvPr id="92" name="Google Shape;92;p14"/>
          <p:cNvGrpSpPr/>
          <p:nvPr/>
        </p:nvGrpSpPr>
        <p:grpSpPr>
          <a:xfrm>
            <a:off x="4121025" y="1156025"/>
            <a:ext cx="7633553" cy="5110160"/>
            <a:chOff x="0" y="0"/>
            <a:chExt cx="7633553" cy="4350553"/>
          </a:xfrm>
        </p:grpSpPr>
        <p:sp>
          <p:nvSpPr>
            <p:cNvPr id="93" name="Google Shape;93;p14"/>
            <p:cNvSpPr/>
            <p:nvPr/>
          </p:nvSpPr>
          <p:spPr>
            <a:xfrm>
              <a:off x="0" y="0"/>
              <a:ext cx="7633494" cy="1359548"/>
            </a:xfrm>
            <a:prstGeom prst="roundRect">
              <a:avLst>
                <a:gd fmla="val 10000" name="adj"/>
              </a:avLst>
            </a:prstGeom>
            <a:gradFill>
              <a:gsLst>
                <a:gs pos="0">
                  <a:srgbClr val="6EA2D9"/>
                </a:gs>
                <a:gs pos="50000">
                  <a:srgbClr val="5197DA"/>
                </a:gs>
                <a:gs pos="100000">
                  <a:srgbClr val="4185C7"/>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txBox="1"/>
            <p:nvPr/>
          </p:nvSpPr>
          <p:spPr>
            <a:xfrm>
              <a:off x="1662653" y="0"/>
              <a:ext cx="5970900" cy="1359600"/>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Pedro Lopez</a:t>
              </a:r>
              <a:endParaRPr b="0" i="0" sz="2600" u="none" cap="none" strike="noStrike">
                <a:solidFill>
                  <a:schemeClr val="lt1"/>
                </a:solidFill>
                <a:latin typeface="Calibri"/>
                <a:ea typeface="Calibri"/>
                <a:cs typeface="Calibri"/>
                <a:sym typeface="Calibri"/>
              </a:endParaRPr>
            </a:p>
            <a:p>
              <a:pPr indent="-228600" lvl="1" marL="228600" marR="0" rtl="0" algn="l">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Desarrollador</a:t>
              </a:r>
              <a:endParaRPr b="0" i="0" sz="2000" u="none" cap="none" strike="noStrike">
                <a:solidFill>
                  <a:schemeClr val="lt1"/>
                </a:solidFill>
                <a:latin typeface="Calibri"/>
                <a:ea typeface="Calibri"/>
                <a:cs typeface="Calibri"/>
                <a:sym typeface="Calibri"/>
              </a:endParaRPr>
            </a:p>
            <a:p>
              <a:pPr indent="-228600" lvl="1" marL="228600" marR="0" rtl="0" algn="l">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Transformar </a:t>
              </a:r>
              <a:r>
                <a:rPr lang="es-CL" sz="2000">
                  <a:solidFill>
                    <a:schemeClr val="lt1"/>
                  </a:solidFill>
                  <a:latin typeface="Calibri"/>
                  <a:ea typeface="Calibri"/>
                  <a:cs typeface="Calibri"/>
                  <a:sym typeface="Calibri"/>
                </a:rPr>
                <a:t>las especificaciones en un código funcional y construir el sistema.</a:t>
              </a:r>
              <a:endParaRPr b="0" i="0" sz="2000" u="none" cap="none" strike="noStrike">
                <a:solidFill>
                  <a:schemeClr val="lt1"/>
                </a:solidFill>
                <a:latin typeface="Calibri"/>
                <a:ea typeface="Calibri"/>
                <a:cs typeface="Calibri"/>
                <a:sym typeface="Calibri"/>
              </a:endParaRPr>
            </a:p>
          </p:txBody>
        </p:sp>
        <p:sp>
          <p:nvSpPr>
            <p:cNvPr id="95" name="Google Shape;95;p14"/>
            <p:cNvSpPr/>
            <p:nvPr/>
          </p:nvSpPr>
          <p:spPr>
            <a:xfrm>
              <a:off x="135954" y="135954"/>
              <a:ext cx="1526698" cy="1087638"/>
            </a:xfrm>
            <a:prstGeom prst="roundRect">
              <a:avLst>
                <a:gd fmla="val 10000" name="adj"/>
              </a:avLst>
            </a:prstGeom>
            <a:solidFill>
              <a:srgbClr val="C1D2EA"/>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0" y="1495502"/>
              <a:ext cx="7633494" cy="1359548"/>
            </a:xfrm>
            <a:prstGeom prst="roundRect">
              <a:avLst>
                <a:gd fmla="val 10000" name="adj"/>
              </a:avLst>
            </a:prstGeom>
            <a:gradFill>
              <a:gsLst>
                <a:gs pos="0">
                  <a:srgbClr val="6EA2D9"/>
                </a:gs>
                <a:gs pos="50000">
                  <a:srgbClr val="5197DA"/>
                </a:gs>
                <a:gs pos="100000">
                  <a:srgbClr val="4185C7"/>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txBox="1"/>
            <p:nvPr/>
          </p:nvSpPr>
          <p:spPr>
            <a:xfrm>
              <a:off x="1662653" y="1495502"/>
              <a:ext cx="5970840" cy="1359548"/>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Angel Castillo</a:t>
              </a:r>
              <a:endParaRPr b="0" i="0" sz="2600" u="none" cap="none" strike="noStrike">
                <a:solidFill>
                  <a:schemeClr val="lt1"/>
                </a:solidFill>
                <a:latin typeface="Calibri"/>
                <a:ea typeface="Calibri"/>
                <a:cs typeface="Calibri"/>
                <a:sym typeface="Calibri"/>
              </a:endParaRPr>
            </a:p>
            <a:p>
              <a:pPr indent="-228600" lvl="1" marL="228600" marR="0" rtl="0" algn="l">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Arquitecto de software</a:t>
              </a:r>
              <a:endParaRPr b="0" i="0" sz="2000" u="none" cap="none" strike="noStrike">
                <a:solidFill>
                  <a:schemeClr val="lt1"/>
                </a:solidFill>
                <a:latin typeface="Calibri"/>
                <a:ea typeface="Calibri"/>
                <a:cs typeface="Calibri"/>
                <a:sym typeface="Calibri"/>
              </a:endParaRPr>
            </a:p>
            <a:p>
              <a:pPr indent="-228600" lvl="1" marL="228600" marR="0" rtl="0" algn="l">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Creación de diagramas de flujo y arquitectura del sistema</a:t>
              </a:r>
              <a:endParaRPr b="0" i="0" sz="2000" u="none" cap="none" strike="noStrike">
                <a:solidFill>
                  <a:schemeClr val="lt1"/>
                </a:solidFill>
                <a:latin typeface="Calibri"/>
                <a:ea typeface="Calibri"/>
                <a:cs typeface="Calibri"/>
                <a:sym typeface="Calibri"/>
              </a:endParaRPr>
            </a:p>
          </p:txBody>
        </p:sp>
        <p:sp>
          <p:nvSpPr>
            <p:cNvPr id="98" name="Google Shape;98;p14"/>
            <p:cNvSpPr/>
            <p:nvPr/>
          </p:nvSpPr>
          <p:spPr>
            <a:xfrm>
              <a:off x="135954" y="1631457"/>
              <a:ext cx="1526698" cy="1087638"/>
            </a:xfrm>
            <a:prstGeom prst="roundRect">
              <a:avLst>
                <a:gd fmla="val 10000" name="adj"/>
              </a:avLst>
            </a:prstGeom>
            <a:solidFill>
              <a:srgbClr val="C1D2EA"/>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0" y="2991005"/>
              <a:ext cx="7633494" cy="1359548"/>
            </a:xfrm>
            <a:prstGeom prst="roundRect">
              <a:avLst>
                <a:gd fmla="val 10000" name="adj"/>
              </a:avLst>
            </a:prstGeom>
            <a:gradFill>
              <a:gsLst>
                <a:gs pos="0">
                  <a:srgbClr val="6EA2D9"/>
                </a:gs>
                <a:gs pos="50000">
                  <a:srgbClr val="5197DA"/>
                </a:gs>
                <a:gs pos="100000">
                  <a:srgbClr val="4185C7"/>
                </a:gs>
              </a:gsLst>
              <a:lin ang="5400000" scaled="0"/>
            </a:gra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txBox="1"/>
            <p:nvPr/>
          </p:nvSpPr>
          <p:spPr>
            <a:xfrm>
              <a:off x="1662653" y="2991005"/>
              <a:ext cx="5970840" cy="1359548"/>
            </a:xfrm>
            <a:prstGeom prst="rect">
              <a:avLst/>
            </a:prstGeom>
            <a:noFill/>
            <a:ln>
              <a:noFill/>
            </a:ln>
          </p:spPr>
          <p:txBody>
            <a:bodyPr anchorCtr="0" anchor="t" bIns="99050" lIns="99050" spcFirstLastPara="1" rIns="99050" wrap="square" tIns="99050">
              <a:noAutofit/>
            </a:bodyPr>
            <a:lstStyle/>
            <a:p>
              <a:pPr indent="0" lvl="0" marL="0" marR="0" rtl="0" algn="l">
                <a:lnSpc>
                  <a:spcPct val="90000"/>
                </a:lnSpc>
                <a:spcBef>
                  <a:spcPts val="0"/>
                </a:spcBef>
                <a:spcAft>
                  <a:spcPts val="0"/>
                </a:spcAft>
                <a:buClr>
                  <a:schemeClr val="lt1"/>
                </a:buClr>
                <a:buSzPts val="2600"/>
                <a:buFont typeface="Calibri"/>
                <a:buNone/>
              </a:pPr>
              <a:r>
                <a:rPr lang="es-CL" sz="2600">
                  <a:solidFill>
                    <a:schemeClr val="lt1"/>
                  </a:solidFill>
                  <a:latin typeface="Calibri"/>
                  <a:ea typeface="Calibri"/>
                  <a:cs typeface="Calibri"/>
                  <a:sym typeface="Calibri"/>
                </a:rPr>
                <a:t>Ignacio Cea</a:t>
              </a:r>
              <a:endParaRPr b="0" i="0" sz="2600" u="none" cap="none" strike="noStrike">
                <a:solidFill>
                  <a:schemeClr val="lt1"/>
                </a:solidFill>
                <a:latin typeface="Calibri"/>
                <a:ea typeface="Calibri"/>
                <a:cs typeface="Calibri"/>
                <a:sym typeface="Calibri"/>
              </a:endParaRPr>
            </a:p>
            <a:p>
              <a:pPr indent="-228600" lvl="1" marL="228600" marR="0" rtl="0" algn="l">
                <a:lnSpc>
                  <a:spcPct val="90000"/>
                </a:lnSpc>
                <a:spcBef>
                  <a:spcPts val="91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Tester</a:t>
              </a:r>
              <a:endParaRPr b="0" i="0" sz="2000" u="none" cap="none" strike="noStrike">
                <a:solidFill>
                  <a:schemeClr val="lt1"/>
                </a:solidFill>
                <a:latin typeface="Calibri"/>
                <a:ea typeface="Calibri"/>
                <a:cs typeface="Calibri"/>
                <a:sym typeface="Calibri"/>
              </a:endParaRPr>
            </a:p>
            <a:p>
              <a:pPr indent="-228600" lvl="1" marL="228600" marR="0" rtl="0" algn="l">
                <a:lnSpc>
                  <a:spcPct val="90000"/>
                </a:lnSpc>
                <a:spcBef>
                  <a:spcPts val="300"/>
                </a:spcBef>
                <a:spcAft>
                  <a:spcPts val="0"/>
                </a:spcAft>
                <a:buClr>
                  <a:schemeClr val="lt1"/>
                </a:buClr>
                <a:buSzPts val="2000"/>
                <a:buFont typeface="Calibri"/>
                <a:buChar char="•"/>
              </a:pPr>
              <a:r>
                <a:rPr lang="es-CL" sz="2000">
                  <a:solidFill>
                    <a:schemeClr val="lt1"/>
                  </a:solidFill>
                  <a:latin typeface="Calibri"/>
                  <a:ea typeface="Calibri"/>
                  <a:cs typeface="Calibri"/>
                  <a:sym typeface="Calibri"/>
                </a:rPr>
                <a:t>Revisar el producto de software para detectar errores , garantizando que cumpla con todos los requisitos.</a:t>
              </a:r>
              <a:endParaRPr b="0" i="0" sz="2000" u="none" cap="none" strike="noStrike">
                <a:solidFill>
                  <a:schemeClr val="lt1"/>
                </a:solidFill>
                <a:latin typeface="Calibri"/>
                <a:ea typeface="Calibri"/>
                <a:cs typeface="Calibri"/>
                <a:sym typeface="Calibri"/>
              </a:endParaRPr>
            </a:p>
          </p:txBody>
        </p:sp>
        <p:sp>
          <p:nvSpPr>
            <p:cNvPr id="101" name="Google Shape;101;p14"/>
            <p:cNvSpPr/>
            <p:nvPr/>
          </p:nvSpPr>
          <p:spPr>
            <a:xfrm>
              <a:off x="135954" y="3126960"/>
              <a:ext cx="1526698" cy="1087638"/>
            </a:xfrm>
            <a:prstGeom prst="roundRect">
              <a:avLst>
                <a:gd fmla="val 10000" name="adj"/>
              </a:avLst>
            </a:prstGeom>
            <a:solidFill>
              <a:srgbClr val="C1D2EA"/>
            </a:solidFill>
            <a:ln>
              <a:noFill/>
            </a:ln>
            <a:effectLst>
              <a:outerShdw blurRad="57150" rotWithShape="0" algn="ctr" dir="5400000" dist="19050">
                <a:srgbClr val="000000">
                  <a:alpha val="6313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14"/>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CL" sz="1800" u="none" cap="none" strike="noStrike">
                <a:solidFill>
                  <a:srgbClr val="757070"/>
                </a:solidFill>
                <a:latin typeface="Calibri"/>
                <a:ea typeface="Calibri"/>
                <a:cs typeface="Calibri"/>
                <a:sym typeface="Calibri"/>
              </a:rPr>
              <a:t>PROYECTO </a:t>
            </a:r>
            <a:r>
              <a:rPr lang="es-CL" sz="1800">
                <a:solidFill>
                  <a:srgbClr val="757070"/>
                </a:solidFill>
                <a:latin typeface="Calibri"/>
                <a:ea typeface="Calibri"/>
                <a:cs typeface="Calibri"/>
                <a:sym typeface="Calibri"/>
              </a:rPr>
              <a:t>“El Mirador”</a:t>
            </a:r>
            <a:endParaRPr/>
          </a:p>
        </p:txBody>
      </p:sp>
      <p:sp>
        <p:nvSpPr>
          <p:cNvPr id="103" name="Google Shape;103;p14"/>
          <p:cNvSpPr txBox="1"/>
          <p:nvPr/>
        </p:nvSpPr>
        <p:spPr>
          <a:xfrm>
            <a:off x="238327" y="3058616"/>
            <a:ext cx="3608961"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INTEGRANTES, ROLES Y TIPO DE ORGANIZACIÓN</a:t>
            </a:r>
            <a:endParaRPr sz="1800">
              <a:solidFill>
                <a:schemeClr val="dk1"/>
              </a:solidFill>
              <a:latin typeface="Calibri"/>
              <a:ea typeface="Calibri"/>
              <a:cs typeface="Calibri"/>
              <a:sym typeface="Calibri"/>
            </a:endParaRPr>
          </a:p>
        </p:txBody>
      </p:sp>
      <p:cxnSp>
        <p:nvCxnSpPr>
          <p:cNvPr id="104" name="Google Shape;104;p14"/>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EscuelaIT Duoc UC - Escuela de Informática y Telecomunicaciones Duoc UC - Duoc  UC | LinkedIn" id="109" name="Google Shape;109;p1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10" name="Google Shape;110;p15"/>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111" name="Google Shape;111;p15"/>
          <p:cNvSpPr txBox="1"/>
          <p:nvPr/>
        </p:nvSpPr>
        <p:spPr>
          <a:xfrm>
            <a:off x="0" y="992899"/>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DESCRIPCIÓN Y PROPUESTA DE SOLUCIÓN</a:t>
            </a:r>
            <a:endParaRPr sz="1800">
              <a:solidFill>
                <a:schemeClr val="dk1"/>
              </a:solidFill>
              <a:latin typeface="Calibri"/>
              <a:ea typeface="Calibri"/>
              <a:cs typeface="Calibri"/>
              <a:sym typeface="Calibri"/>
            </a:endParaRPr>
          </a:p>
        </p:txBody>
      </p:sp>
      <p:cxnSp>
        <p:nvCxnSpPr>
          <p:cNvPr id="112" name="Google Shape;112;p15"/>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13" name="Google Shape;113;p15"/>
          <p:cNvSpPr/>
          <p:nvPr/>
        </p:nvSpPr>
        <p:spPr>
          <a:xfrm>
            <a:off x="714900" y="1844725"/>
            <a:ext cx="4348800" cy="4417800"/>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Problema / Necesidad del Cliente</a:t>
            </a:r>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"El Mirador" es una comunidad residencial céntrica de 20 pisos y 160 departamentos, donde conviven tanto propietarios como arrendatarios. Actualmente, la administración cuenta con un personal muy reducido (3 personas de mantención y 2 conserjes) y enfrenta graves problemas operativos debido a que toda la gestión de gastos comunes se realiza de forma manual.</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p:txBody>
      </p:sp>
      <p:sp>
        <p:nvSpPr>
          <p:cNvPr id="114" name="Google Shape;114;p15"/>
          <p:cNvSpPr/>
          <p:nvPr/>
        </p:nvSpPr>
        <p:spPr>
          <a:xfrm>
            <a:off x="6912075" y="1852125"/>
            <a:ext cx="4348800" cy="4417800"/>
          </a:xfrm>
          <a:prstGeom prst="roundRect">
            <a:avLst>
              <a:gd fmla="val 10901" name="adj"/>
            </a:avLst>
          </a:prstGeom>
          <a:solidFill>
            <a:schemeClr val="lt1"/>
          </a:solidFill>
          <a:ln cap="flat" cmpd="sng" w="12700">
            <a:solidFill>
              <a:schemeClr val="accent1"/>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s-CL" sz="2800" u="sng">
                <a:solidFill>
                  <a:schemeClr val="dk1"/>
                </a:solidFill>
                <a:latin typeface="Calibri"/>
                <a:ea typeface="Calibri"/>
                <a:cs typeface="Calibri"/>
                <a:sym typeface="Calibri"/>
              </a:rPr>
              <a:t>Propuesta de Solución de Software</a:t>
            </a:r>
            <a:endParaRPr/>
          </a:p>
          <a:p>
            <a:pPr indent="0" lvl="0" marL="0" marR="0" rtl="0" algn="ctr">
              <a:spcBef>
                <a:spcPts val="0"/>
              </a:spcBef>
              <a:spcAft>
                <a:spcPts val="0"/>
              </a:spcAft>
              <a:buNone/>
            </a:pPr>
            <a:r>
              <a:t/>
            </a:r>
            <a:endParaRPr sz="1800" u="sng">
              <a:solidFill>
                <a:schemeClr val="dk1"/>
              </a:solidFill>
              <a:latin typeface="Calibri"/>
              <a:ea typeface="Calibri"/>
              <a:cs typeface="Calibri"/>
              <a:sym typeface="Calibri"/>
            </a:endParaRPr>
          </a:p>
          <a:p>
            <a:pPr indent="0" lvl="0" marL="0" marR="0" rtl="0" algn="just">
              <a:spcBef>
                <a:spcPts val="0"/>
              </a:spcBef>
              <a:spcAft>
                <a:spcPts val="0"/>
              </a:spcAft>
              <a:buNone/>
            </a:pPr>
            <a:r>
              <a:rPr lang="es-CL" sz="1800">
                <a:solidFill>
                  <a:schemeClr val="dk1"/>
                </a:solidFill>
                <a:latin typeface="Calibri"/>
                <a:ea typeface="Calibri"/>
                <a:cs typeface="Calibri"/>
                <a:sym typeface="Calibri"/>
              </a:rPr>
              <a:t>Para abordar estos desafíos, se diseñó el Software de gestión del edificio "El Mirador", una plataforma web integral orientada a automatizar las tareas repetitivas, dar visibilidad financiera y digitalizar la atención comunitaria</a:t>
            </a:r>
            <a:endParaRPr sz="1800">
              <a:solidFill>
                <a:schemeClr val="dk1"/>
              </a:solidFill>
              <a:latin typeface="Calibri"/>
              <a:ea typeface="Calibri"/>
              <a:cs typeface="Calibri"/>
              <a:sym typeface="Calibri"/>
            </a:endParaRPr>
          </a:p>
        </p:txBody>
      </p:sp>
      <p:sp>
        <p:nvSpPr>
          <p:cNvPr id="115" name="Google Shape;115;p15"/>
          <p:cNvSpPr/>
          <p:nvPr/>
        </p:nvSpPr>
        <p:spPr>
          <a:xfrm>
            <a:off x="5456903" y="3736258"/>
            <a:ext cx="1140542" cy="757084"/>
          </a:xfrm>
          <a:prstGeom prst="rightArrow">
            <a:avLst>
              <a:gd fmla="val 50000" name="adj1"/>
              <a:gd fmla="val 50000" name="adj2"/>
            </a:avLst>
          </a:prstGeom>
          <a:solidFill>
            <a:schemeClr val="accent1"/>
          </a:solidFill>
          <a:ln cap="flat" cmpd="sng" w="12700">
            <a:solidFill>
              <a:srgbClr val="1C305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spd="slow">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EscuelaIT Duoc UC - Escuela de Informática y Telecomunicaciones Duoc UC - Duoc  UC | LinkedIn" id="120" name="Google Shape;120;p1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21" name="Google Shape;121;p16"/>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122" name="Google Shape;122;p16"/>
          <p:cNvSpPr txBox="1"/>
          <p:nvPr/>
        </p:nvSpPr>
        <p:spPr>
          <a:xfrm>
            <a:off x="0" y="1384304"/>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CICLO DE VIDA DEL SOFTWARE</a:t>
            </a:r>
            <a:endParaRPr sz="1800">
              <a:solidFill>
                <a:schemeClr val="dk1"/>
              </a:solidFill>
              <a:latin typeface="Calibri"/>
              <a:ea typeface="Calibri"/>
              <a:cs typeface="Calibri"/>
              <a:sym typeface="Calibri"/>
            </a:endParaRPr>
          </a:p>
        </p:txBody>
      </p:sp>
      <p:cxnSp>
        <p:nvCxnSpPr>
          <p:cNvPr id="123" name="Google Shape;123;p16"/>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24" name="Google Shape;124;p16"/>
          <p:cNvSpPr/>
          <p:nvPr/>
        </p:nvSpPr>
        <p:spPr>
          <a:xfrm>
            <a:off x="614525" y="2040575"/>
            <a:ext cx="10962900" cy="46281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CL" sz="1800">
                <a:solidFill>
                  <a:schemeClr val="dk1"/>
                </a:solidFill>
                <a:latin typeface="Calibri"/>
                <a:ea typeface="Calibri"/>
                <a:cs typeface="Calibri"/>
                <a:sym typeface="Calibri"/>
              </a:rPr>
              <a:t>Análisis: Diagnóstico de problemas (morosidad y procesos manuales) y definición cerrada de 30 requerimientos funcionales y 17 no funcionales.</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s-CL" sz="1800">
                <a:solidFill>
                  <a:schemeClr val="dk1"/>
                </a:solidFill>
                <a:latin typeface="Calibri"/>
                <a:ea typeface="Calibri"/>
                <a:cs typeface="Calibri"/>
                <a:sym typeface="Calibri"/>
              </a:rPr>
              <a:t>Diseño: Creación formal de la arquitectura híbrida y documentación completa del modelo de 4+1 vistas antes de programar.</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s-CL" sz="1800">
                <a:solidFill>
                  <a:schemeClr val="dk1"/>
                </a:solidFill>
                <a:latin typeface="Calibri"/>
                <a:ea typeface="Calibri"/>
                <a:cs typeface="Calibri"/>
                <a:sym typeface="Calibri"/>
              </a:rPr>
              <a:t>Desarrollo: Construcción estructurada del software por capas (Presentación, Negocio, Persistencia) respetando estrictamente el diseño aprobado.</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s-CL" sz="1800">
                <a:solidFill>
                  <a:schemeClr val="dk1"/>
                </a:solidFill>
                <a:latin typeface="Calibri"/>
                <a:ea typeface="Calibri"/>
                <a:cs typeface="Calibri"/>
                <a:sym typeface="Calibri"/>
              </a:rPr>
              <a:t>Testing: Fase posterior al desarrollo para evaluar la calidad con la norma ISO 25010 y corregir 25 problemas de usabilidad (heurísticas de Nielsen).</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s-CL" sz="1800">
                <a:solidFill>
                  <a:schemeClr val="dk1"/>
                </a:solidFill>
                <a:latin typeface="Calibri"/>
                <a:ea typeface="Calibri"/>
                <a:cs typeface="Calibri"/>
                <a:sym typeface="Calibri"/>
              </a:rPr>
              <a:t>Mantenimiento: Puesta en producción, soporte continuo y control de versiones secuencial documentado en GitHub.</a:t>
            </a:r>
            <a:endParaRPr sz="1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descr="EscuelaIT Duoc UC - Escuela de Informática y Telecomunicaciones Duoc UC - Duoc  UC | LinkedIn" id="129" name="Google Shape;129;p1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30" name="Google Shape;130;p17"/>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CL" sz="1800">
                <a:solidFill>
                  <a:srgbClr val="757070"/>
                </a:solidFill>
                <a:latin typeface="Calibri"/>
                <a:ea typeface="Calibri"/>
                <a:cs typeface="Calibri"/>
                <a:sym typeface="Calibri"/>
              </a:rPr>
              <a:t>PROYECTO “El Mirador”</a:t>
            </a:r>
            <a:endParaRPr/>
          </a:p>
        </p:txBody>
      </p:sp>
      <p:sp>
        <p:nvSpPr>
          <p:cNvPr id="131" name="Google Shape;131;p17"/>
          <p:cNvSpPr txBox="1"/>
          <p:nvPr/>
        </p:nvSpPr>
        <p:spPr>
          <a:xfrm>
            <a:off x="0" y="1384304"/>
            <a:ext cx="12192000" cy="1200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lang="es-CL" sz="3600">
                <a:solidFill>
                  <a:schemeClr val="dk1"/>
                </a:solidFill>
                <a:latin typeface="Calibri"/>
                <a:ea typeface="Calibri"/>
                <a:cs typeface="Calibri"/>
                <a:sym typeface="Calibri"/>
              </a:rPr>
              <a:t>Fases aplicadas al proyecto</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3600">
              <a:solidFill>
                <a:schemeClr val="dk1"/>
              </a:solidFill>
              <a:latin typeface="Calibri"/>
              <a:ea typeface="Calibri"/>
              <a:cs typeface="Calibri"/>
              <a:sym typeface="Calibri"/>
            </a:endParaRPr>
          </a:p>
        </p:txBody>
      </p:sp>
      <p:cxnSp>
        <p:nvCxnSpPr>
          <p:cNvPr id="132" name="Google Shape;132;p17"/>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sp>
        <p:nvSpPr>
          <p:cNvPr id="133" name="Google Shape;133;p17"/>
          <p:cNvSpPr/>
          <p:nvPr/>
        </p:nvSpPr>
        <p:spPr>
          <a:xfrm>
            <a:off x="614525" y="2040575"/>
            <a:ext cx="10962900" cy="46281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CL" sz="1800">
                <a:solidFill>
                  <a:schemeClr val="dk1"/>
                </a:solidFill>
                <a:latin typeface="Calibri"/>
                <a:ea typeface="Calibri"/>
                <a:cs typeface="Calibri"/>
                <a:sym typeface="Calibri"/>
              </a:rPr>
              <a:t>Normativa/metodología aplicada: Modelo en Cascada, en conjunto con ISO/IEC 25010 para los criterios de calidad del producto.</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s-CL" sz="1800">
                <a:solidFill>
                  <a:schemeClr val="dk1"/>
                </a:solidFill>
                <a:latin typeface="Calibri"/>
                <a:ea typeface="Calibri"/>
                <a:cs typeface="Calibri"/>
                <a:sym typeface="Calibri"/>
              </a:rPr>
              <a:t>El proyecto se desarrolló siguiendo fases secuenciales bien definidas, donde cada etapa se completaba antes de avanzar a la siguiente (Organización de equipo → Análisis y estudio → Creación de diseño → Verificación de diseño → Desarrollo por módulos → Aplicación de pruebas → Despliegue → Mantenimiento).</a:t>
            </a:r>
            <a:endParaRPr sz="1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EscuelaIT Duoc UC - Escuela de Informática y Telecomunicaciones Duoc UC - Duoc  UC | LinkedIn" id="138" name="Google Shape;138;p18"/>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39" name="Google Shape;139;p18"/>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140" name="Google Shape;140;p18"/>
          <p:cNvSpPr txBox="1"/>
          <p:nvPr/>
        </p:nvSpPr>
        <p:spPr>
          <a:xfrm>
            <a:off x="136200" y="1057150"/>
            <a:ext cx="59964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CL" sz="3600">
                <a:solidFill>
                  <a:schemeClr val="dk1"/>
                </a:solidFill>
                <a:latin typeface="Calibri"/>
                <a:ea typeface="Calibri"/>
                <a:cs typeface="Calibri"/>
                <a:sym typeface="Calibri"/>
              </a:rPr>
              <a:t>OBJETIVOS DEL PROYECTO</a:t>
            </a:r>
            <a:endParaRPr/>
          </a:p>
        </p:txBody>
      </p:sp>
      <p:cxnSp>
        <p:nvCxnSpPr>
          <p:cNvPr id="141" name="Google Shape;141;p18"/>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42" name="Google Shape;142;p18"/>
          <p:cNvSpPr/>
          <p:nvPr/>
        </p:nvSpPr>
        <p:spPr>
          <a:xfrm>
            <a:off x="614525" y="2040575"/>
            <a:ext cx="10962900" cy="46281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Objetivo: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Desarrollar un sistema web de gestión de gastos comunes para el Edificio "El Mirador" que automatice los procesos de cobro y administración, reduciendo la morosidad y aumentando la transparencia entre la administración y los residentes.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CL" sz="1800">
                <a:solidFill>
                  <a:schemeClr val="dk1"/>
                </a:solidFill>
                <a:latin typeface="Calibri"/>
                <a:ea typeface="Calibri"/>
                <a:cs typeface="Calibri"/>
                <a:sym typeface="Calibri"/>
              </a:rPr>
              <a:t>Objetivos específicos: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Registrar y gestionar los datos de todos los residentes (propietarios residentes, propietarios no residentes y arrendatarios).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Calcular, registrar y emitir automáticamente las cuotas de gastos comunes y gastos extraordinarios.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Gestionar los pagos y la morosidad mediante recordatorios automáticos y reportes detallados.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Permitir a residentes y personal enviar y gestionar solicitudes de mantenimiento y quejas de forma digital.</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Generar informes en tiempo real sobre pagos, morosidad y gestión del edificio para apoyar la toma de decisiones.</a:t>
            </a:r>
            <a:endParaRPr sz="1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EscuelaIT Duoc UC - Escuela de Informática y Telecomunicaciones Duoc UC - Duoc  UC | LinkedIn" id="147" name="Google Shape;147;p1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48" name="Google Shape;148;p19"/>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CL" sz="1800">
                <a:solidFill>
                  <a:srgbClr val="757070"/>
                </a:solidFill>
                <a:latin typeface="Calibri"/>
                <a:ea typeface="Calibri"/>
                <a:cs typeface="Calibri"/>
                <a:sym typeface="Calibri"/>
              </a:rPr>
              <a:t>PROYECTO “El Mirador”</a:t>
            </a:r>
            <a:endParaRPr/>
          </a:p>
        </p:txBody>
      </p:sp>
      <p:sp>
        <p:nvSpPr>
          <p:cNvPr id="149" name="Google Shape;149;p19"/>
          <p:cNvSpPr txBox="1"/>
          <p:nvPr/>
        </p:nvSpPr>
        <p:spPr>
          <a:xfrm>
            <a:off x="136200" y="1057150"/>
            <a:ext cx="59964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CL" sz="3600">
                <a:solidFill>
                  <a:schemeClr val="dk1"/>
                </a:solidFill>
                <a:latin typeface="Calibri"/>
                <a:ea typeface="Calibri"/>
                <a:cs typeface="Calibri"/>
                <a:sym typeface="Calibri"/>
              </a:rPr>
              <a:t>ALCANCE DEL PROYECTO</a:t>
            </a:r>
            <a:endParaRPr sz="3600">
              <a:solidFill>
                <a:schemeClr val="dk1"/>
              </a:solidFill>
              <a:latin typeface="Calibri"/>
              <a:ea typeface="Calibri"/>
              <a:cs typeface="Calibri"/>
              <a:sym typeface="Calibri"/>
            </a:endParaRPr>
          </a:p>
        </p:txBody>
      </p:sp>
      <p:cxnSp>
        <p:nvCxnSpPr>
          <p:cNvPr id="150" name="Google Shape;150;p19"/>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sp>
        <p:nvSpPr>
          <p:cNvPr id="151" name="Google Shape;151;p19"/>
          <p:cNvSpPr/>
          <p:nvPr/>
        </p:nvSpPr>
        <p:spPr>
          <a:xfrm>
            <a:off x="614525" y="2040575"/>
            <a:ext cx="10962900" cy="46281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El proyecto contempla el desarrollo de un sistema web para la gestión de pagos de gastos comunes del edificio, incluyendo:</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Registro y administración de residentes (propietarios y arrendatarios) y unidades habitacionales.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Cálculo automático de cuotas y gestión de gastos extraordinarios.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Registro de pagos, generación de recibos y control de morosidad.</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Gestión de solicitudes de mantenimiento y quejas.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Generación de reportes financieros, de morosidad y de gestión operativa.</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Sistema de notificaciones automáticas (correo, SMS) hacia los residentes.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AutoNum type="arabicPeriod"/>
            </a:pPr>
            <a:r>
              <a:rPr lang="es-CL" sz="1800">
                <a:solidFill>
                  <a:schemeClr val="dk1"/>
                </a:solidFill>
                <a:latin typeface="Calibri"/>
                <a:ea typeface="Calibri"/>
                <a:cs typeface="Calibri"/>
                <a:sym typeface="Calibri"/>
              </a:rPr>
              <a:t>Gestión de usuarios, roles y permisos diferenciados por perfil (administrador, conserje, personal de mantención, residentes).</a:t>
            </a:r>
            <a:endParaRPr sz="1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EscuelaIT Duoc UC - Escuela de Informática y Telecomunicaciones Duoc UC - Duoc  UC | LinkedIn" id="156" name="Google Shape;156;p2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57" name="Google Shape;157;p20"/>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CL" sz="1800">
                <a:solidFill>
                  <a:srgbClr val="757070"/>
                </a:solidFill>
                <a:latin typeface="Calibri"/>
                <a:ea typeface="Calibri"/>
                <a:cs typeface="Calibri"/>
                <a:sym typeface="Calibri"/>
              </a:rPr>
              <a:t>PROYECTO “El Mirador”</a:t>
            </a:r>
            <a:endParaRPr/>
          </a:p>
        </p:txBody>
      </p:sp>
      <p:sp>
        <p:nvSpPr>
          <p:cNvPr id="158" name="Google Shape;158;p20"/>
          <p:cNvSpPr txBox="1"/>
          <p:nvPr/>
        </p:nvSpPr>
        <p:spPr>
          <a:xfrm>
            <a:off x="136200" y="1057150"/>
            <a:ext cx="5996400" cy="646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s-CL" sz="3600">
                <a:solidFill>
                  <a:schemeClr val="dk1"/>
                </a:solidFill>
                <a:latin typeface="Calibri"/>
                <a:ea typeface="Calibri"/>
                <a:cs typeface="Calibri"/>
                <a:sym typeface="Calibri"/>
              </a:rPr>
              <a:t>LIMITACIONES DEL PROYECTO</a:t>
            </a:r>
            <a:endParaRPr sz="3600">
              <a:solidFill>
                <a:schemeClr val="dk1"/>
              </a:solidFill>
              <a:latin typeface="Calibri"/>
              <a:ea typeface="Calibri"/>
              <a:cs typeface="Calibri"/>
              <a:sym typeface="Calibri"/>
            </a:endParaRPr>
          </a:p>
        </p:txBody>
      </p:sp>
      <p:cxnSp>
        <p:nvCxnSpPr>
          <p:cNvPr id="159" name="Google Shape;159;p20"/>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sp>
        <p:nvSpPr>
          <p:cNvPr id="160" name="Google Shape;160;p20"/>
          <p:cNvSpPr/>
          <p:nvPr/>
        </p:nvSpPr>
        <p:spPr>
          <a:xfrm>
            <a:off x="614525" y="2040575"/>
            <a:ext cx="10962900" cy="46281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El sistema depende de servicios externos (pasarela de pagos y servicio de notificaciones) cuya disponibilidad e integración no está bajo control directo del equipo.</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Se asume que los residentes cuentan con acceso a internet y un dispositivo compatible; no se contemplan alternativas para residentes sin acceso digital.</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El sistema se diseñó considerando la escala actual del edificio (160 departamentos); un crecimiento significativo requeriría evaluar la migración hacia microservicios.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No se incluye la gestión de aspectos legales de cobranza judicial ante morosidad extrema, solo el registro y seguimiento administrativo de la deuda.</a:t>
            </a:r>
            <a:endParaRPr sz="1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EscuelaIT Duoc UC - Escuela de Informática y Telecomunicaciones Duoc UC - Duoc  UC | LinkedIn" id="165" name="Google Shape;165;p2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66" name="Google Shape;166;p21"/>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167" name="Google Shape;167;p21"/>
          <p:cNvSpPr txBox="1"/>
          <p:nvPr/>
        </p:nvSpPr>
        <p:spPr>
          <a:xfrm>
            <a:off x="0" y="863030"/>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ESTRATEGIAS DE GESTIÓN DEL PROYECTO</a:t>
            </a:r>
            <a:endParaRPr sz="1800">
              <a:solidFill>
                <a:schemeClr val="dk1"/>
              </a:solidFill>
              <a:latin typeface="Calibri"/>
              <a:ea typeface="Calibri"/>
              <a:cs typeface="Calibri"/>
              <a:sym typeface="Calibri"/>
            </a:endParaRPr>
          </a:p>
        </p:txBody>
      </p:sp>
      <p:cxnSp>
        <p:nvCxnSpPr>
          <p:cNvPr id="168" name="Google Shape;168;p21"/>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169" name="Google Shape;169;p21"/>
          <p:cNvSpPr/>
          <p:nvPr/>
        </p:nvSpPr>
        <p:spPr>
          <a:xfrm>
            <a:off x="614525" y="1767075"/>
            <a:ext cx="10962900" cy="49017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del Tiempo: Planificación secuencial de 20 semanas en una Carta Gantt, controlando hitos y dependencias bajo un modelo tradicional en cascada.</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del Alcance: Línea base cerrada en la etapa de análisis con 30 requerimientos funcionales y 17 no funcionales, evitando cambios durante el desarrollo.</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de Equipo: Distribución de roles y responsabilidades con trazabilidad clara de entregables mediante el historial de revisiones del documento técnico (DAS).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de la Calidad: Evaluación con la norma ISO 25010 (seguridad, fiabilidad, eficiencia) y validación de usabilidad mediante heurísticas de Nielsen en el prototipo.</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de Riesgos: Mitigación temprana de riesgos mediante prototipos en Figma y definición de dependencias críticas (internet y pasarelas de pago externas).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de Configuración: Control de versiones secuencial y fechado en GitHub para mantener la trazabilidad de cambios y respaldar el código de forma estable.</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s-CL" sz="1800">
                <a:solidFill>
                  <a:schemeClr val="dk1"/>
                </a:solidFill>
                <a:latin typeface="Calibri"/>
                <a:ea typeface="Calibri"/>
                <a:cs typeface="Calibri"/>
                <a:sym typeface="Calibri"/>
              </a:rPr>
              <a:t>Gestión de Documentación: Generación formal de entregables estables (modelo 4+1 vistas, diagramas UML y casos de uso) como requisito para avanzar entre etapas.</a:t>
            </a:r>
            <a:endParaRPr sz="1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EscuelaIT Duoc UC - Escuela de Informática y Telecomunicaciones Duoc UC - Duoc  UC | LinkedIn" id="174" name="Google Shape;174;p2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75" name="Google Shape;175;p22"/>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176" name="Google Shape;176;p22"/>
          <p:cNvSpPr txBox="1"/>
          <p:nvPr/>
        </p:nvSpPr>
        <p:spPr>
          <a:xfrm>
            <a:off x="1" y="997594"/>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PLANIFICACIÓN DEL PROYECTO (EDT + CARTA GANTT)</a:t>
            </a:r>
            <a:endParaRPr sz="1000">
              <a:solidFill>
                <a:srgbClr val="757070"/>
              </a:solidFill>
              <a:latin typeface="Calibri"/>
              <a:ea typeface="Calibri"/>
              <a:cs typeface="Calibri"/>
              <a:sym typeface="Calibri"/>
            </a:endParaRPr>
          </a:p>
        </p:txBody>
      </p:sp>
      <p:cxnSp>
        <p:nvCxnSpPr>
          <p:cNvPr id="177" name="Google Shape;177;p22"/>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pic>
        <p:nvPicPr>
          <p:cNvPr id="178" name="Google Shape;178;p22"/>
          <p:cNvPicPr preferRelativeResize="0"/>
          <p:nvPr/>
        </p:nvPicPr>
        <p:blipFill>
          <a:blip r:embed="rId4">
            <a:alphaModFix/>
          </a:blip>
          <a:stretch>
            <a:fillRect/>
          </a:stretch>
        </p:blipFill>
        <p:spPr>
          <a:xfrm>
            <a:off x="408263" y="1644100"/>
            <a:ext cx="11375474" cy="5037500"/>
          </a:xfrm>
          <a:prstGeom prst="rect">
            <a:avLst/>
          </a:prstGeom>
          <a:noFill/>
          <a:ln>
            <a:noFill/>
          </a:ln>
        </p:spPr>
      </p:pic>
    </p:spTree>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EscuelaIT Duoc UC - Escuela de Informática y Telecomunicaciones Duoc UC - Duoc  UC | LinkedIn" id="183" name="Google Shape;183;p2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84" name="Google Shape;184;p23"/>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185" name="Google Shape;185;p23"/>
          <p:cNvSpPr txBox="1"/>
          <p:nvPr/>
        </p:nvSpPr>
        <p:spPr>
          <a:xfrm>
            <a:off x="0" y="1432655"/>
            <a:ext cx="12192000" cy="138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Escenario: Casos de Uso  • Vista Lógica: Clases  • Vista Desarrollo: Componentes  • Vista Proceso: Actividad  • Vista Física: Despliegue</a:t>
            </a:r>
            <a:endParaRPr/>
          </a:p>
        </p:txBody>
      </p:sp>
      <p:cxnSp>
        <p:nvCxnSpPr>
          <p:cNvPr id="186" name="Google Shape;186;p23"/>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sp>
        <p:nvSpPr>
          <p:cNvPr id="187" name="Google Shape;187;p23"/>
          <p:cNvSpPr txBox="1"/>
          <p:nvPr/>
        </p:nvSpPr>
        <p:spPr>
          <a:xfrm>
            <a:off x="1794225" y="3179800"/>
            <a:ext cx="7964400" cy="1539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s-CL" sz="2000">
                <a:solidFill>
                  <a:schemeClr val="dk1"/>
                </a:solidFill>
              </a:rPr>
              <a:t>El sistema propuesto se basa en el modelo de arquitectura 4+1, el cual permite describir el sistema desde distintas perspectivas facilitando su comprensión, desarrollo y mantenimiento</a:t>
            </a:r>
            <a:endParaRPr sz="2000">
              <a:solidFill>
                <a:schemeClr val="dk1"/>
              </a:solidFill>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EscuelaIT Duoc UC - Escuela de Informática y Telecomunicaciones Duoc UC - Duoc  UC | LinkedIn" id="192" name="Google Shape;192;p2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193" name="Google Shape;193;p24"/>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194" name="Google Shape;194;p24"/>
          <p:cNvSpPr txBox="1"/>
          <p:nvPr/>
        </p:nvSpPr>
        <p:spPr>
          <a:xfrm>
            <a:off x="0" y="1432655"/>
            <a:ext cx="12191999"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Escenario: Casos de Uso  </a:t>
            </a:r>
            <a:endParaRPr/>
          </a:p>
        </p:txBody>
      </p:sp>
      <p:cxnSp>
        <p:nvCxnSpPr>
          <p:cNvPr id="195" name="Google Shape;195;p24"/>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pic>
        <p:nvPicPr>
          <p:cNvPr id="196" name="Google Shape;196;p24"/>
          <p:cNvPicPr preferRelativeResize="0"/>
          <p:nvPr/>
        </p:nvPicPr>
        <p:blipFill>
          <a:blip r:embed="rId4">
            <a:alphaModFix/>
          </a:blip>
          <a:stretch>
            <a:fillRect/>
          </a:stretch>
        </p:blipFill>
        <p:spPr>
          <a:xfrm>
            <a:off x="79750" y="2948363"/>
            <a:ext cx="4265025" cy="3318250"/>
          </a:xfrm>
          <a:prstGeom prst="rect">
            <a:avLst/>
          </a:prstGeom>
          <a:noFill/>
          <a:ln>
            <a:noFill/>
          </a:ln>
        </p:spPr>
      </p:pic>
      <p:pic>
        <p:nvPicPr>
          <p:cNvPr id="197" name="Google Shape;197;p24"/>
          <p:cNvPicPr preferRelativeResize="0"/>
          <p:nvPr/>
        </p:nvPicPr>
        <p:blipFill>
          <a:blip r:embed="rId5">
            <a:alphaModFix/>
          </a:blip>
          <a:stretch>
            <a:fillRect/>
          </a:stretch>
        </p:blipFill>
        <p:spPr>
          <a:xfrm>
            <a:off x="8130075" y="3142725"/>
            <a:ext cx="3834126" cy="3213899"/>
          </a:xfrm>
          <a:prstGeom prst="rect">
            <a:avLst/>
          </a:prstGeom>
          <a:noFill/>
          <a:ln>
            <a:noFill/>
          </a:ln>
        </p:spPr>
      </p:pic>
      <p:pic>
        <p:nvPicPr>
          <p:cNvPr id="198" name="Google Shape;198;p24"/>
          <p:cNvPicPr preferRelativeResize="0"/>
          <p:nvPr/>
        </p:nvPicPr>
        <p:blipFill>
          <a:blip r:embed="rId6">
            <a:alphaModFix/>
          </a:blip>
          <a:stretch>
            <a:fillRect/>
          </a:stretch>
        </p:blipFill>
        <p:spPr>
          <a:xfrm>
            <a:off x="4452063" y="3142718"/>
            <a:ext cx="3560250" cy="2929529"/>
          </a:xfrm>
          <a:prstGeom prst="rect">
            <a:avLst/>
          </a:prstGeom>
          <a:noFill/>
          <a:ln>
            <a:noFill/>
          </a:ln>
        </p:spPr>
      </p:pic>
    </p:spTree>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EscuelaIT Duoc UC - Escuela de Informática y Telecomunicaciones Duoc UC - Duoc  UC | LinkedIn" id="203" name="Google Shape;203;p2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04" name="Google Shape;204;p25"/>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205" name="Google Shape;205;p25"/>
          <p:cNvSpPr txBox="1"/>
          <p:nvPr/>
        </p:nvSpPr>
        <p:spPr>
          <a:xfrm>
            <a:off x="0" y="1432655"/>
            <a:ext cx="121920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Lógica: Clases  • Vista Desarrollo: Componentes y Paquetes </a:t>
            </a:r>
            <a:endParaRPr/>
          </a:p>
        </p:txBody>
      </p:sp>
      <p:cxnSp>
        <p:nvCxnSpPr>
          <p:cNvPr id="206" name="Google Shape;206;p25"/>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pic>
        <p:nvPicPr>
          <p:cNvPr id="207" name="Google Shape;207;p25"/>
          <p:cNvPicPr preferRelativeResize="0"/>
          <p:nvPr/>
        </p:nvPicPr>
        <p:blipFill>
          <a:blip r:embed="rId4">
            <a:alphaModFix/>
          </a:blip>
          <a:stretch>
            <a:fillRect/>
          </a:stretch>
        </p:blipFill>
        <p:spPr>
          <a:xfrm>
            <a:off x="592175" y="2929230"/>
            <a:ext cx="4767365" cy="3735145"/>
          </a:xfrm>
          <a:prstGeom prst="rect">
            <a:avLst/>
          </a:prstGeom>
          <a:noFill/>
          <a:ln>
            <a:noFill/>
          </a:ln>
        </p:spPr>
      </p:pic>
      <p:pic>
        <p:nvPicPr>
          <p:cNvPr id="208" name="Google Shape;208;p25"/>
          <p:cNvPicPr preferRelativeResize="0"/>
          <p:nvPr/>
        </p:nvPicPr>
        <p:blipFill>
          <a:blip r:embed="rId5">
            <a:alphaModFix/>
          </a:blip>
          <a:stretch>
            <a:fillRect/>
          </a:stretch>
        </p:blipFill>
        <p:spPr>
          <a:xfrm>
            <a:off x="5446440" y="2970455"/>
            <a:ext cx="2966963" cy="3735145"/>
          </a:xfrm>
          <a:prstGeom prst="rect">
            <a:avLst/>
          </a:prstGeom>
          <a:noFill/>
          <a:ln>
            <a:noFill/>
          </a:ln>
        </p:spPr>
      </p:pic>
      <p:pic>
        <p:nvPicPr>
          <p:cNvPr id="209" name="Google Shape;209;p25"/>
          <p:cNvPicPr preferRelativeResize="0"/>
          <p:nvPr/>
        </p:nvPicPr>
        <p:blipFill>
          <a:blip r:embed="rId6">
            <a:alphaModFix/>
          </a:blip>
          <a:stretch>
            <a:fillRect/>
          </a:stretch>
        </p:blipFill>
        <p:spPr>
          <a:xfrm>
            <a:off x="8904700" y="3010325"/>
            <a:ext cx="2329250" cy="3735150"/>
          </a:xfrm>
          <a:prstGeom prst="rect">
            <a:avLst/>
          </a:prstGeom>
          <a:noFill/>
          <a:ln>
            <a:noFill/>
          </a:ln>
        </p:spPr>
      </p:pic>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descr="EscuelaIT Duoc UC - Escuela de Informática y Telecomunicaciones Duoc UC - Duoc  UC | LinkedIn" id="214" name="Google Shape;214;p2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15" name="Google Shape;215;p26"/>
          <p:cNvSpPr txBox="1"/>
          <p:nvPr/>
        </p:nvSpPr>
        <p:spPr>
          <a:xfrm>
            <a:off x="136188" y="368928"/>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216" name="Google Shape;216;p26"/>
          <p:cNvSpPr txBox="1"/>
          <p:nvPr/>
        </p:nvSpPr>
        <p:spPr>
          <a:xfrm>
            <a:off x="0" y="1432655"/>
            <a:ext cx="12192000" cy="1015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 SOFTWARE - MODELO 4+1 (UML)</a:t>
            </a:r>
            <a:endParaRPr/>
          </a:p>
          <a:p>
            <a:pPr indent="0" lvl="0" marL="0" marR="0" rtl="0" algn="ctr">
              <a:spcBef>
                <a:spcPts val="0"/>
              </a:spcBef>
              <a:spcAft>
                <a:spcPts val="0"/>
              </a:spcAft>
              <a:buNone/>
            </a:pPr>
            <a:r>
              <a:rPr lang="es-CL" sz="2400">
                <a:solidFill>
                  <a:srgbClr val="757070"/>
                </a:solidFill>
                <a:latin typeface="Calibri"/>
                <a:ea typeface="Calibri"/>
                <a:cs typeface="Calibri"/>
                <a:sym typeface="Calibri"/>
              </a:rPr>
              <a:t>• Vista Proceso: Actividad  • Vista Física: Despliegue</a:t>
            </a:r>
            <a:endParaRPr/>
          </a:p>
        </p:txBody>
      </p:sp>
      <p:cxnSp>
        <p:nvCxnSpPr>
          <p:cNvPr id="217" name="Google Shape;217;p26"/>
          <p:cNvCxnSpPr/>
          <p:nvPr/>
        </p:nvCxnSpPr>
        <p:spPr>
          <a:xfrm>
            <a:off x="0" y="758027"/>
            <a:ext cx="4085700" cy="0"/>
          </a:xfrm>
          <a:prstGeom prst="straightConnector1">
            <a:avLst/>
          </a:prstGeom>
          <a:noFill/>
          <a:ln cap="flat" cmpd="sng" w="15875">
            <a:solidFill>
              <a:srgbClr val="F5F7FC"/>
            </a:solidFill>
            <a:prstDash val="solid"/>
            <a:miter lim="8000"/>
            <a:headEnd len="sm" w="sm" type="none"/>
            <a:tailEnd len="sm" w="sm" type="none"/>
          </a:ln>
        </p:spPr>
      </p:cxnSp>
      <p:pic>
        <p:nvPicPr>
          <p:cNvPr id="218" name="Google Shape;218;p26"/>
          <p:cNvPicPr preferRelativeResize="0"/>
          <p:nvPr/>
        </p:nvPicPr>
        <p:blipFill>
          <a:blip r:embed="rId4">
            <a:alphaModFix/>
          </a:blip>
          <a:stretch>
            <a:fillRect/>
          </a:stretch>
        </p:blipFill>
        <p:spPr>
          <a:xfrm>
            <a:off x="730550" y="2891355"/>
            <a:ext cx="3779944" cy="3735145"/>
          </a:xfrm>
          <a:prstGeom prst="rect">
            <a:avLst/>
          </a:prstGeom>
          <a:noFill/>
          <a:ln>
            <a:noFill/>
          </a:ln>
        </p:spPr>
      </p:pic>
      <p:pic>
        <p:nvPicPr>
          <p:cNvPr id="219" name="Google Shape;219;p26"/>
          <p:cNvPicPr preferRelativeResize="0"/>
          <p:nvPr/>
        </p:nvPicPr>
        <p:blipFill>
          <a:blip r:embed="rId5">
            <a:alphaModFix/>
          </a:blip>
          <a:stretch>
            <a:fillRect/>
          </a:stretch>
        </p:blipFill>
        <p:spPr>
          <a:xfrm>
            <a:off x="5111444" y="3149880"/>
            <a:ext cx="6000750" cy="3476625"/>
          </a:xfrm>
          <a:prstGeom prst="rect">
            <a:avLst/>
          </a:prstGeom>
          <a:noFill/>
          <a:ln>
            <a:noFill/>
          </a:ln>
        </p:spPr>
      </p:pic>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EscuelaIT Duoc UC - Escuela de Informática y Telecomunicaciones Duoc UC - Duoc  UC | LinkedIn" id="224" name="Google Shape;224;p2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25" name="Google Shape;225;p27"/>
          <p:cNvSpPr txBox="1"/>
          <p:nvPr/>
        </p:nvSpPr>
        <p:spPr>
          <a:xfrm>
            <a:off x="136188" y="368928"/>
            <a:ext cx="12191999" cy="369332"/>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226" name="Google Shape;226;p27"/>
          <p:cNvSpPr txBox="1"/>
          <p:nvPr/>
        </p:nvSpPr>
        <p:spPr>
          <a:xfrm>
            <a:off x="0" y="1432655"/>
            <a:ext cx="1219199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REQUISITOS FUNCIONALES Y NO FUNCIONALES</a:t>
            </a:r>
            <a:endParaRPr/>
          </a:p>
        </p:txBody>
      </p:sp>
      <p:cxnSp>
        <p:nvCxnSpPr>
          <p:cNvPr id="227" name="Google Shape;227;p27"/>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pic>
        <p:nvPicPr>
          <p:cNvPr id="228" name="Google Shape;228;p27"/>
          <p:cNvPicPr preferRelativeResize="0"/>
          <p:nvPr/>
        </p:nvPicPr>
        <p:blipFill>
          <a:blip r:embed="rId4">
            <a:alphaModFix/>
          </a:blip>
          <a:stretch>
            <a:fillRect/>
          </a:stretch>
        </p:blipFill>
        <p:spPr>
          <a:xfrm>
            <a:off x="388263" y="2518724"/>
            <a:ext cx="11887203" cy="1624869"/>
          </a:xfrm>
          <a:prstGeom prst="rect">
            <a:avLst/>
          </a:prstGeom>
          <a:noFill/>
          <a:ln>
            <a:noFill/>
          </a:ln>
        </p:spPr>
      </p:pic>
      <p:pic>
        <p:nvPicPr>
          <p:cNvPr id="229" name="Google Shape;229;p27"/>
          <p:cNvPicPr preferRelativeResize="0"/>
          <p:nvPr/>
        </p:nvPicPr>
        <p:blipFill>
          <a:blip r:embed="rId5">
            <a:alphaModFix/>
          </a:blip>
          <a:stretch>
            <a:fillRect/>
          </a:stretch>
        </p:blipFill>
        <p:spPr>
          <a:xfrm>
            <a:off x="388263" y="5115075"/>
            <a:ext cx="11887200" cy="726200"/>
          </a:xfrm>
          <a:prstGeom prst="rect">
            <a:avLst/>
          </a:prstGeom>
          <a:noFill/>
          <a:ln>
            <a:noFill/>
          </a:ln>
        </p:spPr>
      </p:pic>
      <p:sp>
        <p:nvSpPr>
          <p:cNvPr id="230" name="Google Shape;230;p27"/>
          <p:cNvSpPr txBox="1"/>
          <p:nvPr/>
        </p:nvSpPr>
        <p:spPr>
          <a:xfrm>
            <a:off x="299050" y="2019175"/>
            <a:ext cx="5741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2400">
                <a:solidFill>
                  <a:schemeClr val="dk1"/>
                </a:solidFill>
                <a:latin typeface="Calibri"/>
                <a:ea typeface="Calibri"/>
                <a:cs typeface="Calibri"/>
                <a:sym typeface="Calibri"/>
              </a:rPr>
              <a:t>Funcionales:</a:t>
            </a:r>
            <a:endParaRPr sz="2400">
              <a:solidFill>
                <a:schemeClr val="dk1"/>
              </a:solidFill>
              <a:latin typeface="Calibri"/>
              <a:ea typeface="Calibri"/>
              <a:cs typeface="Calibri"/>
              <a:sym typeface="Calibri"/>
            </a:endParaRPr>
          </a:p>
        </p:txBody>
      </p:sp>
      <p:sp>
        <p:nvSpPr>
          <p:cNvPr id="231" name="Google Shape;231;p27"/>
          <p:cNvSpPr txBox="1"/>
          <p:nvPr/>
        </p:nvSpPr>
        <p:spPr>
          <a:xfrm>
            <a:off x="299050" y="44785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2400">
                <a:solidFill>
                  <a:schemeClr val="dk1"/>
                </a:solidFill>
                <a:latin typeface="Calibri"/>
                <a:ea typeface="Calibri"/>
                <a:cs typeface="Calibri"/>
                <a:sym typeface="Calibri"/>
              </a:rPr>
              <a:t>No </a:t>
            </a:r>
            <a:r>
              <a:rPr lang="es-CL" sz="2400">
                <a:solidFill>
                  <a:schemeClr val="dk1"/>
                </a:solidFill>
                <a:latin typeface="Calibri"/>
                <a:ea typeface="Calibri"/>
                <a:cs typeface="Calibri"/>
                <a:sym typeface="Calibri"/>
              </a:rPr>
              <a:t>Funcionales:</a:t>
            </a:r>
            <a:endParaRPr/>
          </a:p>
        </p:txBody>
      </p:sp>
    </p:spTree>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EscuelaIT Duoc UC - Escuela de Informática y Telecomunicaciones Duoc UC - Duoc  UC | LinkedIn" id="236" name="Google Shape;236;p28"/>
          <p:cNvPicPr preferRelativeResize="0"/>
          <p:nvPr/>
        </p:nvPicPr>
        <p:blipFill rotWithShape="1">
          <a:blip r:embed="rId3">
            <a:alphaModFix/>
          </a:blip>
          <a:srcRect b="0" l="0" r="0" t="0"/>
          <a:stretch/>
        </p:blipFill>
        <p:spPr>
          <a:xfrm>
            <a:off x="8821977" y="-101475"/>
            <a:ext cx="3141406" cy="785352"/>
          </a:xfrm>
          <a:prstGeom prst="rect">
            <a:avLst/>
          </a:prstGeom>
          <a:noFill/>
          <a:ln>
            <a:noFill/>
          </a:ln>
        </p:spPr>
      </p:pic>
      <p:sp>
        <p:nvSpPr>
          <p:cNvPr id="237" name="Google Shape;237;p28"/>
          <p:cNvSpPr txBox="1"/>
          <p:nvPr/>
        </p:nvSpPr>
        <p:spPr>
          <a:xfrm>
            <a:off x="136188" y="253503"/>
            <a:ext cx="121920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s-CL" sz="1800">
                <a:solidFill>
                  <a:srgbClr val="757070"/>
                </a:solidFill>
                <a:latin typeface="Calibri"/>
                <a:ea typeface="Calibri"/>
                <a:cs typeface="Calibri"/>
                <a:sym typeface="Calibri"/>
              </a:rPr>
              <a:t>PROYECTO “El Mirador”</a:t>
            </a:r>
            <a:endParaRPr/>
          </a:p>
        </p:txBody>
      </p:sp>
      <p:sp>
        <p:nvSpPr>
          <p:cNvPr id="238" name="Google Shape;238;p28"/>
          <p:cNvSpPr txBox="1"/>
          <p:nvPr/>
        </p:nvSpPr>
        <p:spPr>
          <a:xfrm>
            <a:off x="136200" y="62280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ESTÁNDARES DE CALIDAD - ISO25000 Y OTROS</a:t>
            </a:r>
            <a:endParaRPr/>
          </a:p>
        </p:txBody>
      </p:sp>
      <p:cxnSp>
        <p:nvCxnSpPr>
          <p:cNvPr id="239" name="Google Shape;239;p28"/>
          <p:cNvCxnSpPr/>
          <p:nvPr/>
        </p:nvCxnSpPr>
        <p:spPr>
          <a:xfrm>
            <a:off x="0" y="758027"/>
            <a:ext cx="4085617" cy="0"/>
          </a:xfrm>
          <a:prstGeom prst="straightConnector1">
            <a:avLst/>
          </a:prstGeom>
          <a:noFill/>
          <a:ln cap="flat" cmpd="sng" w="15875">
            <a:solidFill>
              <a:srgbClr val="F5F7FC"/>
            </a:solidFill>
            <a:prstDash val="solid"/>
            <a:miter lim="8000"/>
            <a:headEnd len="sm" w="sm" type="none"/>
            <a:tailEnd len="sm" w="sm" type="none"/>
          </a:ln>
        </p:spPr>
      </p:cxnSp>
      <p:sp>
        <p:nvSpPr>
          <p:cNvPr id="240" name="Google Shape;240;p28"/>
          <p:cNvSpPr txBox="1"/>
          <p:nvPr/>
        </p:nvSpPr>
        <p:spPr>
          <a:xfrm>
            <a:off x="681975" y="1509650"/>
            <a:ext cx="10278000" cy="4925400"/>
          </a:xfrm>
          <a:prstGeom prst="rect">
            <a:avLst/>
          </a:prstGeom>
          <a:noFill/>
          <a:ln>
            <a:noFill/>
          </a:ln>
        </p:spPr>
        <p:txBody>
          <a:bodyPr anchorCtr="0" anchor="t" bIns="91425" lIns="91425" spcFirstLastPara="1" rIns="91425" wrap="square" tIns="91425">
            <a:spAutoFit/>
          </a:bodyPr>
          <a:lstStyle/>
          <a:p>
            <a:pPr indent="0" lvl="0" marL="228600" rtl="0" algn="l">
              <a:spcBef>
                <a:spcPts val="0"/>
              </a:spcBef>
              <a:spcAft>
                <a:spcPts val="0"/>
              </a:spcAft>
              <a:buClr>
                <a:schemeClr val="dk1"/>
              </a:buClr>
              <a:buSzPts val="1100"/>
              <a:buFont typeface="Arial"/>
              <a:buNone/>
            </a:pPr>
            <a:r>
              <a:rPr b="1" lang="es-CL">
                <a:solidFill>
                  <a:schemeClr val="dk1"/>
                </a:solidFill>
              </a:rPr>
              <a:t>Reglas Usabilidad:</a:t>
            </a:r>
            <a:r>
              <a:rPr lang="es-CL">
                <a:solidFill>
                  <a:schemeClr val="dk1"/>
                </a:solidFill>
              </a:rPr>
              <a:t> Tasa de éxito en el cumplimiento de tareas esenciales y puntuación en la encuesta estandarizada SUS.</a:t>
            </a:r>
            <a:endParaRPr>
              <a:solidFill>
                <a:schemeClr val="dk1"/>
              </a:solidFill>
            </a:endParaRPr>
          </a:p>
          <a:p>
            <a:pPr indent="0" lvl="0" marL="228600" rtl="0" algn="l">
              <a:spcBef>
                <a:spcPts val="0"/>
              </a:spcBef>
              <a:spcAft>
                <a:spcPts val="0"/>
              </a:spcAft>
              <a:buClr>
                <a:schemeClr val="dk1"/>
              </a:buClr>
              <a:buSzPts val="1100"/>
              <a:buFont typeface="Arial"/>
              <a:buNone/>
            </a:pPr>
            <a:r>
              <a:rPr lang="es-CL" u="sng">
                <a:solidFill>
                  <a:schemeClr val="dk1"/>
                </a:solidFill>
              </a:rPr>
              <a:t>Criterios de aceptación</a:t>
            </a:r>
            <a:r>
              <a:rPr lang="es-CL">
                <a:solidFill>
                  <a:schemeClr val="dk1"/>
                </a:solidFill>
              </a:rPr>
              <a:t>: &gt;90% de los usuarios completan el flujo del software sin asistencia, teniendo una puntuación mayor a 70 en encuesta SUS.</a:t>
            </a:r>
            <a:endParaRPr>
              <a:solidFill>
                <a:schemeClr val="dk1"/>
              </a:solidFill>
            </a:endParaRPr>
          </a:p>
          <a:p>
            <a:pPr indent="0" lvl="0" marL="228600" rtl="0" algn="l">
              <a:spcBef>
                <a:spcPts val="0"/>
              </a:spcBef>
              <a:spcAft>
                <a:spcPts val="0"/>
              </a:spcAft>
              <a:buClr>
                <a:schemeClr val="dk1"/>
              </a:buClr>
              <a:buSzPts val="1100"/>
              <a:buFont typeface="Arial"/>
              <a:buNone/>
            </a:pPr>
            <a:r>
              <a:t/>
            </a:r>
            <a:endParaRPr>
              <a:solidFill>
                <a:schemeClr val="dk1"/>
              </a:solidFill>
            </a:endParaRPr>
          </a:p>
          <a:p>
            <a:pPr indent="0" lvl="0" marL="228600" rtl="0" algn="l">
              <a:spcBef>
                <a:spcPts val="0"/>
              </a:spcBef>
              <a:spcAft>
                <a:spcPts val="0"/>
              </a:spcAft>
              <a:buClr>
                <a:schemeClr val="dk1"/>
              </a:buClr>
              <a:buSzPts val="1100"/>
              <a:buFont typeface="Arial"/>
              <a:buNone/>
            </a:pPr>
            <a:r>
              <a:rPr b="1" lang="es-CL">
                <a:solidFill>
                  <a:schemeClr val="dk1"/>
                </a:solidFill>
              </a:rPr>
              <a:t>Reglas Compatibilidad:</a:t>
            </a:r>
            <a:r>
              <a:rPr lang="es-CL">
                <a:solidFill>
                  <a:schemeClr val="dk1"/>
                </a:solidFill>
              </a:rPr>
              <a:t> Porcentaje de renderizado correcto y funciones realizadas con éxito entre software y hardware.</a:t>
            </a:r>
            <a:endParaRPr>
              <a:solidFill>
                <a:schemeClr val="dk1"/>
              </a:solidFill>
            </a:endParaRPr>
          </a:p>
          <a:p>
            <a:pPr indent="0" lvl="0" marL="228600" rtl="0" algn="l">
              <a:spcBef>
                <a:spcPts val="0"/>
              </a:spcBef>
              <a:spcAft>
                <a:spcPts val="0"/>
              </a:spcAft>
              <a:buClr>
                <a:schemeClr val="dk1"/>
              </a:buClr>
              <a:buSzPts val="1100"/>
              <a:buFont typeface="Arial"/>
              <a:buNone/>
            </a:pPr>
            <a:r>
              <a:rPr lang="es-CL" u="sng">
                <a:solidFill>
                  <a:schemeClr val="dk1"/>
                </a:solidFill>
              </a:rPr>
              <a:t>Criterios de aceptación:</a:t>
            </a:r>
            <a:r>
              <a:rPr lang="es-CL">
                <a:solidFill>
                  <a:schemeClr val="dk1"/>
                </a:solidFill>
              </a:rPr>
              <a:t> 100% de las funciones críticas operan sin interferir con otros sistemas.</a:t>
            </a:r>
            <a:endParaRPr>
              <a:solidFill>
                <a:schemeClr val="dk1"/>
              </a:solidFill>
            </a:endParaRPr>
          </a:p>
          <a:p>
            <a:pPr indent="0" lvl="0" marL="228600" rtl="0" algn="l">
              <a:spcBef>
                <a:spcPts val="0"/>
              </a:spcBef>
              <a:spcAft>
                <a:spcPts val="0"/>
              </a:spcAft>
              <a:buClr>
                <a:schemeClr val="dk1"/>
              </a:buClr>
              <a:buSzPts val="1100"/>
              <a:buFont typeface="Arial"/>
              <a:buNone/>
            </a:pPr>
            <a:r>
              <a:t/>
            </a:r>
            <a:endParaRPr>
              <a:solidFill>
                <a:schemeClr val="dk1"/>
              </a:solidFill>
            </a:endParaRPr>
          </a:p>
          <a:p>
            <a:pPr indent="0" lvl="0" marL="228600" rtl="0" algn="l">
              <a:spcBef>
                <a:spcPts val="0"/>
              </a:spcBef>
              <a:spcAft>
                <a:spcPts val="0"/>
              </a:spcAft>
              <a:buClr>
                <a:schemeClr val="dk1"/>
              </a:buClr>
              <a:buSzPts val="1100"/>
              <a:buFont typeface="Arial"/>
              <a:buNone/>
            </a:pPr>
            <a:r>
              <a:rPr b="1" lang="es-CL">
                <a:solidFill>
                  <a:schemeClr val="dk1"/>
                </a:solidFill>
              </a:rPr>
              <a:t>Reglas Seguridad: </a:t>
            </a:r>
            <a:r>
              <a:rPr lang="es-CL">
                <a:solidFill>
                  <a:schemeClr val="dk1"/>
                </a:solidFill>
              </a:rPr>
              <a:t>Número de vulnerabilidades detectadas clasificadas según el estándar de criticidad OWASP Top 10.</a:t>
            </a:r>
            <a:endParaRPr>
              <a:solidFill>
                <a:schemeClr val="dk1"/>
              </a:solidFill>
            </a:endParaRPr>
          </a:p>
          <a:p>
            <a:pPr indent="0" lvl="0" marL="228600" rtl="0" algn="l">
              <a:spcBef>
                <a:spcPts val="0"/>
              </a:spcBef>
              <a:spcAft>
                <a:spcPts val="0"/>
              </a:spcAft>
              <a:buClr>
                <a:schemeClr val="dk1"/>
              </a:buClr>
              <a:buSzPts val="1100"/>
              <a:buFont typeface="Arial"/>
              <a:buNone/>
            </a:pPr>
            <a:r>
              <a:rPr lang="es-CL" u="sng">
                <a:solidFill>
                  <a:schemeClr val="dk1"/>
                </a:solidFill>
              </a:rPr>
              <a:t>Criterios de aceptación:</a:t>
            </a:r>
            <a:r>
              <a:rPr lang="es-CL">
                <a:solidFill>
                  <a:schemeClr val="dk1"/>
                </a:solidFill>
              </a:rPr>
              <a:t> 0 vulnerabilidades críticas detectadas, y un máximo de 3 vulnerabilidades bajas con un plan de mitigación.</a:t>
            </a:r>
            <a:endParaRPr>
              <a:solidFill>
                <a:schemeClr val="dk1"/>
              </a:solidFill>
            </a:endParaRPr>
          </a:p>
          <a:p>
            <a:pPr indent="0" lvl="0" marL="228600" rtl="0" algn="l">
              <a:spcBef>
                <a:spcPts val="0"/>
              </a:spcBef>
              <a:spcAft>
                <a:spcPts val="0"/>
              </a:spcAft>
              <a:buClr>
                <a:schemeClr val="dk1"/>
              </a:buClr>
              <a:buSzPts val="1100"/>
              <a:buFont typeface="Arial"/>
              <a:buNone/>
            </a:pPr>
            <a:r>
              <a:t/>
            </a:r>
            <a:endParaRPr>
              <a:solidFill>
                <a:schemeClr val="dk1"/>
              </a:solidFill>
            </a:endParaRPr>
          </a:p>
          <a:p>
            <a:pPr indent="0" lvl="0" marL="228600" rtl="0" algn="l">
              <a:spcBef>
                <a:spcPts val="0"/>
              </a:spcBef>
              <a:spcAft>
                <a:spcPts val="0"/>
              </a:spcAft>
              <a:buClr>
                <a:schemeClr val="dk1"/>
              </a:buClr>
              <a:buSzPts val="1100"/>
              <a:buFont typeface="Arial"/>
              <a:buNone/>
            </a:pPr>
            <a:r>
              <a:rPr b="1" lang="es-CL">
                <a:solidFill>
                  <a:schemeClr val="dk1"/>
                </a:solidFill>
              </a:rPr>
              <a:t>Reglas Fiabilidad:</a:t>
            </a:r>
            <a:r>
              <a:rPr lang="es-CL">
                <a:solidFill>
                  <a:schemeClr val="dk1"/>
                </a:solidFill>
              </a:rPr>
              <a:t> Medida con el tiempo medio entre fallos y porcentaje en la disponibilidad del sistema.</a:t>
            </a:r>
            <a:endParaRPr>
              <a:solidFill>
                <a:schemeClr val="dk1"/>
              </a:solidFill>
            </a:endParaRPr>
          </a:p>
          <a:p>
            <a:pPr indent="0" lvl="0" marL="228600" rtl="0" algn="l">
              <a:spcBef>
                <a:spcPts val="0"/>
              </a:spcBef>
              <a:spcAft>
                <a:spcPts val="0"/>
              </a:spcAft>
              <a:buClr>
                <a:schemeClr val="dk1"/>
              </a:buClr>
              <a:buSzPts val="1100"/>
              <a:buFont typeface="Arial"/>
              <a:buNone/>
            </a:pPr>
            <a:r>
              <a:rPr lang="es-CL" u="sng">
                <a:solidFill>
                  <a:schemeClr val="dk1"/>
                </a:solidFill>
              </a:rPr>
              <a:t>Criterios de aceptación:</a:t>
            </a:r>
            <a:r>
              <a:rPr lang="es-CL">
                <a:solidFill>
                  <a:schemeClr val="dk1"/>
                </a:solidFill>
              </a:rPr>
              <a:t> Disponibilidad del sistema en un 99.9% mensual.</a:t>
            </a:r>
            <a:endParaRPr>
              <a:solidFill>
                <a:schemeClr val="dk1"/>
              </a:solidFill>
            </a:endParaRPr>
          </a:p>
          <a:p>
            <a:pPr indent="0" lvl="0" marL="228600" rtl="0" algn="l">
              <a:spcBef>
                <a:spcPts val="0"/>
              </a:spcBef>
              <a:spcAft>
                <a:spcPts val="0"/>
              </a:spcAft>
              <a:buClr>
                <a:schemeClr val="dk1"/>
              </a:buClr>
              <a:buSzPts val="1100"/>
              <a:buFont typeface="Arial"/>
              <a:buNone/>
            </a:pPr>
            <a:r>
              <a:t/>
            </a:r>
            <a:endParaRPr>
              <a:solidFill>
                <a:schemeClr val="dk1"/>
              </a:solidFill>
            </a:endParaRPr>
          </a:p>
          <a:p>
            <a:pPr indent="0" lvl="0" marL="228600" rtl="0" algn="l">
              <a:spcBef>
                <a:spcPts val="0"/>
              </a:spcBef>
              <a:spcAft>
                <a:spcPts val="0"/>
              </a:spcAft>
              <a:buClr>
                <a:schemeClr val="dk1"/>
              </a:buClr>
              <a:buSzPts val="1100"/>
              <a:buFont typeface="Arial"/>
              <a:buNone/>
            </a:pPr>
            <a:r>
              <a:rPr b="1" lang="es-CL">
                <a:solidFill>
                  <a:schemeClr val="dk1"/>
                </a:solidFill>
              </a:rPr>
              <a:t>Reglas Portabilidad: </a:t>
            </a:r>
            <a:r>
              <a:rPr lang="es-CL">
                <a:solidFill>
                  <a:schemeClr val="dk1"/>
                </a:solidFill>
              </a:rPr>
              <a:t>Tiempo requerido para desplegar la aplicación desde cero en un nuevo dispositivo.</a:t>
            </a:r>
            <a:endParaRPr>
              <a:solidFill>
                <a:schemeClr val="dk1"/>
              </a:solidFill>
            </a:endParaRPr>
          </a:p>
          <a:p>
            <a:pPr indent="0" lvl="0" marL="228600" rtl="0" algn="l">
              <a:spcBef>
                <a:spcPts val="0"/>
              </a:spcBef>
              <a:spcAft>
                <a:spcPts val="0"/>
              </a:spcAft>
              <a:buClr>
                <a:schemeClr val="dk1"/>
              </a:buClr>
              <a:buSzPts val="1100"/>
              <a:buFont typeface="Arial"/>
              <a:buNone/>
            </a:pPr>
            <a:r>
              <a:rPr lang="es-CL" u="sng">
                <a:solidFill>
                  <a:schemeClr val="dk1"/>
                </a:solidFill>
              </a:rPr>
              <a:t>Criterios de aceptación:</a:t>
            </a:r>
            <a:r>
              <a:rPr lang="es-CL">
                <a:solidFill>
                  <a:schemeClr val="dk1"/>
                </a:solidFill>
              </a:rPr>
              <a:t> Despliegue automatizado exitoso mediante una infraestructura alternativa</a:t>
            </a:r>
            <a:endParaRPr>
              <a:solidFill>
                <a:schemeClr val="dk1"/>
              </a:solidFill>
            </a:endParaRPr>
          </a:p>
          <a:p>
            <a:pPr indent="0" lvl="0" marL="228600" rtl="0" algn="l">
              <a:spcBef>
                <a:spcPts val="0"/>
              </a:spcBef>
              <a:spcAft>
                <a:spcPts val="0"/>
              </a:spcAft>
              <a:buClr>
                <a:schemeClr val="dk1"/>
              </a:buClr>
              <a:buSzPts val="1100"/>
              <a:buFont typeface="Arial"/>
              <a:buNone/>
            </a:pPr>
            <a:r>
              <a:t/>
            </a:r>
            <a:endParaRPr>
              <a:solidFill>
                <a:schemeClr val="dk1"/>
              </a:solidFill>
            </a:endParaRPr>
          </a:p>
          <a:p>
            <a:pPr indent="0" lvl="0" marL="228600" rtl="0" algn="l">
              <a:spcBef>
                <a:spcPts val="0"/>
              </a:spcBef>
              <a:spcAft>
                <a:spcPts val="0"/>
              </a:spcAft>
              <a:buClr>
                <a:schemeClr val="dk1"/>
              </a:buClr>
              <a:buSzPts val="1100"/>
              <a:buFont typeface="Arial"/>
              <a:buNone/>
            </a:pPr>
            <a:r>
              <a:rPr b="1" lang="es-CL">
                <a:solidFill>
                  <a:schemeClr val="dk1"/>
                </a:solidFill>
              </a:rPr>
              <a:t>Reglas Eficiencia de desempeño: </a:t>
            </a:r>
            <a:r>
              <a:rPr lang="es-CL">
                <a:solidFill>
                  <a:schemeClr val="dk1"/>
                </a:solidFill>
              </a:rPr>
              <a:t>Tiempo de respuesta del servidor ante peticiones concurrentes y consumo de CPU/Memoria RAM.</a:t>
            </a:r>
            <a:endParaRPr>
              <a:solidFill>
                <a:schemeClr val="dk1"/>
              </a:solidFill>
            </a:endParaRPr>
          </a:p>
          <a:p>
            <a:pPr indent="0" lvl="0" marL="228600" rtl="0" algn="l">
              <a:spcBef>
                <a:spcPts val="0"/>
              </a:spcBef>
              <a:spcAft>
                <a:spcPts val="0"/>
              </a:spcAft>
              <a:buClr>
                <a:schemeClr val="dk1"/>
              </a:buClr>
              <a:buSzPts val="1100"/>
              <a:buFont typeface="Arial"/>
              <a:buNone/>
            </a:pPr>
            <a:r>
              <a:rPr lang="es-CL" u="sng">
                <a:solidFill>
                  <a:schemeClr val="dk1"/>
                </a:solidFill>
              </a:rPr>
              <a:t>Criterios de aceptación:</a:t>
            </a:r>
            <a:r>
              <a:rPr lang="es-CL">
                <a:solidFill>
                  <a:schemeClr val="dk1"/>
                </a:solidFill>
              </a:rPr>
              <a:t> Tiempo de espera &lt; 2.0 segundos, manteniendo el uso de la CPU por debajo del 70%.</a:t>
            </a:r>
            <a:endParaRPr>
              <a:solidFill>
                <a:schemeClr val="dk1"/>
              </a:solidFill>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EscuelaIT Duoc UC - Escuela de Informática y Telecomunicaciones Duoc UC - Duoc  UC | LinkedIn" id="245" name="Google Shape;245;p29"/>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46" name="Google Shape;246;p29"/>
          <p:cNvSpPr txBox="1"/>
          <p:nvPr/>
        </p:nvSpPr>
        <p:spPr>
          <a:xfrm>
            <a:off x="1" y="785342"/>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sz="2400">
              <a:solidFill>
                <a:srgbClr val="757070"/>
              </a:solidFill>
              <a:latin typeface="Calibri"/>
              <a:ea typeface="Calibri"/>
              <a:cs typeface="Calibri"/>
              <a:sym typeface="Calibri"/>
            </a:endParaRPr>
          </a:p>
        </p:txBody>
      </p:sp>
      <p:sp>
        <p:nvSpPr>
          <p:cNvPr id="247" name="Google Shape;247;p29"/>
          <p:cNvSpPr/>
          <p:nvPr/>
        </p:nvSpPr>
        <p:spPr>
          <a:xfrm>
            <a:off x="4069325" y="2169100"/>
            <a:ext cx="7677300" cy="3452100"/>
          </a:xfrm>
          <a:prstGeom prst="roundRect">
            <a:avLst>
              <a:gd fmla="val 16667" name="adj"/>
            </a:avLst>
          </a:prstGeom>
          <a:solidFill>
            <a:schemeClr val="lt1"/>
          </a:solidFill>
          <a:ln cap="flat" cmpd="sng" w="12700">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CL" sz="1800">
                <a:solidFill>
                  <a:schemeClr val="dk1"/>
                </a:solidFill>
                <a:latin typeface="Calibri"/>
                <a:ea typeface="Calibri"/>
                <a:cs typeface="Calibri"/>
                <a:sym typeface="Calibri"/>
              </a:rPr>
              <a:t>Se seleccionó la herramienta de diseño y prototipado de </a:t>
            </a:r>
            <a:r>
              <a:rPr b="1" lang="es-CL" sz="1800">
                <a:solidFill>
                  <a:schemeClr val="dk1"/>
                </a:solidFill>
                <a:latin typeface="Calibri"/>
                <a:ea typeface="Calibri"/>
                <a:cs typeface="Calibri"/>
                <a:sym typeface="Calibri"/>
              </a:rPr>
              <a:t>Figma</a:t>
            </a:r>
            <a:r>
              <a:rPr lang="es-CL" sz="1800">
                <a:solidFill>
                  <a:schemeClr val="dk1"/>
                </a:solidFill>
                <a:latin typeface="Calibri"/>
                <a:ea typeface="Calibri"/>
                <a:cs typeface="Calibri"/>
                <a:sym typeface="Calibri"/>
              </a:rPr>
              <a:t>, debido a su optimización en la colaboración a tiempo real entre el equipo de diseño y su programación. Además de su capacidad para crear componentes reajustables, esto garantiza la consistencia y flexibilidad en el apartado visual del sistema, mientras que sus funciones de interactividad avanzada permiten realizar pruebas de usabilidad con un comportamiento idéntico al de la aplicación final. Además, sus herramientas de inspección de código aceleran la fase de desarrollo técnico, minimizando la brecha entre el diseño propuesto y el resultado final.</a:t>
            </a:r>
            <a:endParaRPr sz="1800">
              <a:solidFill>
                <a:schemeClr val="dk1"/>
              </a:solidFill>
              <a:latin typeface="Calibri"/>
              <a:ea typeface="Calibri"/>
              <a:cs typeface="Calibri"/>
              <a:sym typeface="Calibri"/>
            </a:endParaRPr>
          </a:p>
        </p:txBody>
      </p:sp>
      <p:pic>
        <p:nvPicPr>
          <p:cNvPr id="248" name="Google Shape;248;p29"/>
          <p:cNvPicPr preferRelativeResize="0"/>
          <p:nvPr/>
        </p:nvPicPr>
        <p:blipFill>
          <a:blip r:embed="rId4">
            <a:alphaModFix/>
          </a:blip>
          <a:stretch>
            <a:fillRect/>
          </a:stretch>
        </p:blipFill>
        <p:spPr>
          <a:xfrm>
            <a:off x="398550" y="2260250"/>
            <a:ext cx="3141401" cy="3141401"/>
          </a:xfrm>
          <a:prstGeom prst="rect">
            <a:avLst/>
          </a:prstGeom>
          <a:noFill/>
          <a:ln>
            <a:noFill/>
          </a:ln>
        </p:spPr>
      </p:pic>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EscuelaIT Duoc UC - Escuela de Informática y Telecomunicaciones Duoc UC - Duoc  UC | LinkedIn" id="253" name="Google Shape;253;p30"/>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54" name="Google Shape;254;p30"/>
          <p:cNvSpPr txBox="1"/>
          <p:nvPr/>
        </p:nvSpPr>
        <p:spPr>
          <a:xfrm>
            <a:off x="1" y="785342"/>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sz="2400">
              <a:solidFill>
                <a:srgbClr val="757070"/>
              </a:solidFill>
              <a:latin typeface="Calibri"/>
              <a:ea typeface="Calibri"/>
              <a:cs typeface="Calibri"/>
              <a:sym typeface="Calibri"/>
            </a:endParaRPr>
          </a:p>
        </p:txBody>
      </p:sp>
      <p:pic>
        <p:nvPicPr>
          <p:cNvPr id="255" name="Google Shape;255;p30"/>
          <p:cNvPicPr preferRelativeResize="0"/>
          <p:nvPr/>
        </p:nvPicPr>
        <p:blipFill>
          <a:blip r:embed="rId4">
            <a:alphaModFix/>
          </a:blip>
          <a:stretch>
            <a:fillRect/>
          </a:stretch>
        </p:blipFill>
        <p:spPr>
          <a:xfrm>
            <a:off x="0" y="2178025"/>
            <a:ext cx="5901175" cy="3567075"/>
          </a:xfrm>
          <a:prstGeom prst="rect">
            <a:avLst/>
          </a:prstGeom>
          <a:noFill/>
          <a:ln>
            <a:noFill/>
          </a:ln>
        </p:spPr>
      </p:pic>
      <p:pic>
        <p:nvPicPr>
          <p:cNvPr id="256" name="Google Shape;256;p30"/>
          <p:cNvPicPr preferRelativeResize="0"/>
          <p:nvPr/>
        </p:nvPicPr>
        <p:blipFill>
          <a:blip r:embed="rId5">
            <a:alphaModFix/>
          </a:blip>
          <a:stretch>
            <a:fillRect/>
          </a:stretch>
        </p:blipFill>
        <p:spPr>
          <a:xfrm>
            <a:off x="6157769" y="2178025"/>
            <a:ext cx="5901156" cy="3567075"/>
          </a:xfrm>
          <a:prstGeom prst="rect">
            <a:avLst/>
          </a:prstGeom>
          <a:noFill/>
          <a:ln>
            <a:noFill/>
          </a:ln>
        </p:spPr>
      </p:pic>
    </p:spTree>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descr="EscuelaIT Duoc UC - Escuela de Informática y Telecomunicaciones Duoc UC - Duoc  UC | LinkedIn" id="261" name="Google Shape;261;p31"/>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62" name="Google Shape;262;p31"/>
          <p:cNvSpPr txBox="1"/>
          <p:nvPr/>
        </p:nvSpPr>
        <p:spPr>
          <a:xfrm>
            <a:off x="1" y="785342"/>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sz="2400">
              <a:solidFill>
                <a:srgbClr val="757070"/>
              </a:solidFill>
              <a:latin typeface="Calibri"/>
              <a:ea typeface="Calibri"/>
              <a:cs typeface="Calibri"/>
              <a:sym typeface="Calibri"/>
            </a:endParaRPr>
          </a:p>
        </p:txBody>
      </p:sp>
      <p:pic>
        <p:nvPicPr>
          <p:cNvPr id="263" name="Google Shape;263;p31"/>
          <p:cNvPicPr preferRelativeResize="0"/>
          <p:nvPr/>
        </p:nvPicPr>
        <p:blipFill>
          <a:blip r:embed="rId4">
            <a:alphaModFix/>
          </a:blip>
          <a:stretch>
            <a:fillRect/>
          </a:stretch>
        </p:blipFill>
        <p:spPr>
          <a:xfrm>
            <a:off x="0" y="2164150"/>
            <a:ext cx="5965150" cy="3605741"/>
          </a:xfrm>
          <a:prstGeom prst="rect">
            <a:avLst/>
          </a:prstGeom>
          <a:noFill/>
          <a:ln>
            <a:noFill/>
          </a:ln>
        </p:spPr>
      </p:pic>
      <p:pic>
        <p:nvPicPr>
          <p:cNvPr id="264" name="Google Shape;264;p31"/>
          <p:cNvPicPr preferRelativeResize="0"/>
          <p:nvPr/>
        </p:nvPicPr>
        <p:blipFill>
          <a:blip r:embed="rId5">
            <a:alphaModFix/>
          </a:blip>
          <a:stretch>
            <a:fillRect/>
          </a:stretch>
        </p:blipFill>
        <p:spPr>
          <a:xfrm>
            <a:off x="6356375" y="2164150"/>
            <a:ext cx="5965150" cy="3605750"/>
          </a:xfrm>
          <a:prstGeom prst="rect">
            <a:avLst/>
          </a:prstGeom>
          <a:noFill/>
          <a:ln>
            <a:noFill/>
          </a:ln>
        </p:spPr>
      </p:pic>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descr="EscuelaIT Duoc UC - Escuela de Informática y Telecomunicaciones Duoc UC - Duoc  UC | LinkedIn" id="269" name="Google Shape;269;p32"/>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70" name="Google Shape;270;p32"/>
          <p:cNvSpPr txBox="1"/>
          <p:nvPr/>
        </p:nvSpPr>
        <p:spPr>
          <a:xfrm>
            <a:off x="1" y="785342"/>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sz="2400">
              <a:solidFill>
                <a:srgbClr val="757070"/>
              </a:solidFill>
              <a:latin typeface="Calibri"/>
              <a:ea typeface="Calibri"/>
              <a:cs typeface="Calibri"/>
              <a:sym typeface="Calibri"/>
            </a:endParaRPr>
          </a:p>
        </p:txBody>
      </p:sp>
      <p:pic>
        <p:nvPicPr>
          <p:cNvPr id="271" name="Google Shape;271;p32"/>
          <p:cNvPicPr preferRelativeResize="0"/>
          <p:nvPr/>
        </p:nvPicPr>
        <p:blipFill>
          <a:blip r:embed="rId4">
            <a:alphaModFix/>
          </a:blip>
          <a:stretch>
            <a:fillRect/>
          </a:stretch>
        </p:blipFill>
        <p:spPr>
          <a:xfrm>
            <a:off x="0" y="2164150"/>
            <a:ext cx="6026675" cy="3642922"/>
          </a:xfrm>
          <a:prstGeom prst="rect">
            <a:avLst/>
          </a:prstGeom>
          <a:noFill/>
          <a:ln>
            <a:noFill/>
          </a:ln>
        </p:spPr>
      </p:pic>
      <p:pic>
        <p:nvPicPr>
          <p:cNvPr id="272" name="Google Shape;272;p32"/>
          <p:cNvPicPr preferRelativeResize="0"/>
          <p:nvPr/>
        </p:nvPicPr>
        <p:blipFill>
          <a:blip r:embed="rId5">
            <a:alphaModFix/>
          </a:blip>
          <a:stretch>
            <a:fillRect/>
          </a:stretch>
        </p:blipFill>
        <p:spPr>
          <a:xfrm>
            <a:off x="6315500" y="2164150"/>
            <a:ext cx="6026675" cy="3642950"/>
          </a:xfrm>
          <a:prstGeom prst="rect">
            <a:avLst/>
          </a:prstGeom>
          <a:noFill/>
          <a:ln>
            <a:noFill/>
          </a:ln>
        </p:spPr>
      </p:pic>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descr="EscuelaIT Duoc UC - Escuela de Informática y Telecomunicaciones Duoc UC - Duoc  UC | LinkedIn" id="277" name="Google Shape;277;p33"/>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78" name="Google Shape;278;p33"/>
          <p:cNvSpPr txBox="1"/>
          <p:nvPr/>
        </p:nvSpPr>
        <p:spPr>
          <a:xfrm>
            <a:off x="1" y="785342"/>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PROTOTIPO DE ALTA FIDELIDAD</a:t>
            </a:r>
            <a:endParaRPr sz="2400">
              <a:solidFill>
                <a:srgbClr val="757070"/>
              </a:solidFill>
              <a:latin typeface="Calibri"/>
              <a:ea typeface="Calibri"/>
              <a:cs typeface="Calibri"/>
              <a:sym typeface="Calibri"/>
            </a:endParaRPr>
          </a:p>
        </p:txBody>
      </p:sp>
      <p:pic>
        <p:nvPicPr>
          <p:cNvPr id="279" name="Google Shape;279;p33"/>
          <p:cNvPicPr preferRelativeResize="0"/>
          <p:nvPr/>
        </p:nvPicPr>
        <p:blipFill>
          <a:blip r:embed="rId4">
            <a:alphaModFix/>
          </a:blip>
          <a:stretch>
            <a:fillRect/>
          </a:stretch>
        </p:blipFill>
        <p:spPr>
          <a:xfrm>
            <a:off x="0" y="2164150"/>
            <a:ext cx="5941274" cy="3591313"/>
          </a:xfrm>
          <a:prstGeom prst="rect">
            <a:avLst/>
          </a:prstGeom>
          <a:noFill/>
          <a:ln>
            <a:noFill/>
          </a:ln>
        </p:spPr>
      </p:pic>
      <p:pic>
        <p:nvPicPr>
          <p:cNvPr id="280" name="Google Shape;280;p33"/>
          <p:cNvPicPr preferRelativeResize="0"/>
          <p:nvPr/>
        </p:nvPicPr>
        <p:blipFill>
          <a:blip r:embed="rId5">
            <a:alphaModFix/>
          </a:blip>
          <a:stretch>
            <a:fillRect/>
          </a:stretch>
        </p:blipFill>
        <p:spPr>
          <a:xfrm>
            <a:off x="6250725" y="2184650"/>
            <a:ext cx="5941274" cy="3548050"/>
          </a:xfrm>
          <a:prstGeom prst="rect">
            <a:avLst/>
          </a:prstGeom>
          <a:noFill/>
          <a:ln>
            <a:noFill/>
          </a:ln>
        </p:spPr>
      </p:pic>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descr="EscuelaIT Duoc UC - Escuela de Informática y Telecomunicaciones Duoc UC - Duoc  UC | LinkedIn" id="285" name="Google Shape;285;p34"/>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86" name="Google Shape;286;p34"/>
          <p:cNvSpPr txBox="1"/>
          <p:nvPr/>
        </p:nvSpPr>
        <p:spPr>
          <a:xfrm>
            <a:off x="59801" y="920795"/>
            <a:ext cx="12192000" cy="144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HEURISTICA DE NIELSEN Y CASOS DE PRUEBA (ISO25000)</a:t>
            </a:r>
            <a:endParaRPr/>
          </a:p>
        </p:txBody>
      </p:sp>
      <p:pic>
        <p:nvPicPr>
          <p:cNvPr id="287" name="Google Shape;287;p34"/>
          <p:cNvPicPr preferRelativeResize="0"/>
          <p:nvPr/>
        </p:nvPicPr>
        <p:blipFill>
          <a:blip r:embed="rId4">
            <a:alphaModFix/>
          </a:blip>
          <a:stretch>
            <a:fillRect/>
          </a:stretch>
        </p:blipFill>
        <p:spPr>
          <a:xfrm>
            <a:off x="780425" y="2721150"/>
            <a:ext cx="7687624" cy="3439100"/>
          </a:xfrm>
          <a:prstGeom prst="rect">
            <a:avLst/>
          </a:prstGeom>
          <a:noFill/>
          <a:ln>
            <a:noFill/>
          </a:ln>
        </p:spPr>
      </p:pic>
      <p:sp>
        <p:nvSpPr>
          <p:cNvPr id="288" name="Google Shape;288;p34"/>
          <p:cNvSpPr txBox="1"/>
          <p:nvPr/>
        </p:nvSpPr>
        <p:spPr>
          <a:xfrm>
            <a:off x="740550" y="2168725"/>
            <a:ext cx="5741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2000">
                <a:solidFill>
                  <a:schemeClr val="dk1"/>
                </a:solidFill>
                <a:latin typeface="Calibri"/>
                <a:ea typeface="Calibri"/>
                <a:cs typeface="Calibri"/>
                <a:sym typeface="Calibri"/>
              </a:rPr>
              <a:t>HEURISTICA DE NIELSEN</a:t>
            </a:r>
            <a:endParaRPr sz="2000">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pic>
        <p:nvPicPr>
          <p:cNvPr descr="EscuelaIT Duoc UC - Escuela de Informática y Telecomunicaciones Duoc UC - Duoc  UC | LinkedIn" id="293" name="Google Shape;293;p35"/>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294" name="Google Shape;294;p35"/>
          <p:cNvSpPr txBox="1"/>
          <p:nvPr/>
        </p:nvSpPr>
        <p:spPr>
          <a:xfrm>
            <a:off x="59801" y="920795"/>
            <a:ext cx="12192000" cy="1446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HEURISTICA DE NIELSEN Y CASOS DE PRUEBA (ISO25000)</a:t>
            </a:r>
            <a:endParaRPr/>
          </a:p>
        </p:txBody>
      </p:sp>
      <p:sp>
        <p:nvSpPr>
          <p:cNvPr id="295" name="Google Shape;295;p35"/>
          <p:cNvSpPr txBox="1"/>
          <p:nvPr/>
        </p:nvSpPr>
        <p:spPr>
          <a:xfrm>
            <a:off x="102550" y="2637200"/>
            <a:ext cx="5741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2000">
                <a:solidFill>
                  <a:schemeClr val="dk1"/>
                </a:solidFill>
                <a:latin typeface="Calibri"/>
                <a:ea typeface="Calibri"/>
                <a:cs typeface="Calibri"/>
                <a:sym typeface="Calibri"/>
              </a:rPr>
              <a:t>CASOS DE PRUEBA</a:t>
            </a:r>
            <a:endParaRPr sz="2000">
              <a:solidFill>
                <a:schemeClr val="dk1"/>
              </a:solidFill>
              <a:latin typeface="Calibri"/>
              <a:ea typeface="Calibri"/>
              <a:cs typeface="Calibri"/>
              <a:sym typeface="Calibri"/>
            </a:endParaRPr>
          </a:p>
        </p:txBody>
      </p:sp>
      <p:pic>
        <p:nvPicPr>
          <p:cNvPr id="296" name="Google Shape;296;p35"/>
          <p:cNvPicPr preferRelativeResize="0"/>
          <p:nvPr/>
        </p:nvPicPr>
        <p:blipFill>
          <a:blip r:embed="rId4">
            <a:alphaModFix/>
          </a:blip>
          <a:stretch>
            <a:fillRect/>
          </a:stretch>
        </p:blipFill>
        <p:spPr>
          <a:xfrm>
            <a:off x="102550" y="3531400"/>
            <a:ext cx="11887200" cy="1223350"/>
          </a:xfrm>
          <a:prstGeom prst="rect">
            <a:avLst/>
          </a:prstGeom>
          <a:noFill/>
          <a:ln>
            <a:noFill/>
          </a:ln>
        </p:spPr>
      </p:pic>
    </p:spTree>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descr="EscuelaIT Duoc UC - Escuela de Informática y Telecomunicaciones Duoc UC - Duoc  UC | LinkedIn" id="301" name="Google Shape;301;p36"/>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302" name="Google Shape;302;p36"/>
          <p:cNvSpPr txBox="1"/>
          <p:nvPr/>
        </p:nvSpPr>
        <p:spPr>
          <a:xfrm>
            <a:off x="1" y="1360773"/>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ACCIONES DE MEJORA Y CONTROL DE VERSIONES</a:t>
            </a:r>
            <a:endParaRPr/>
          </a:p>
        </p:txBody>
      </p:sp>
      <p:sp>
        <p:nvSpPr>
          <p:cNvPr id="303" name="Google Shape;303;p36"/>
          <p:cNvSpPr txBox="1"/>
          <p:nvPr/>
        </p:nvSpPr>
        <p:spPr>
          <a:xfrm>
            <a:off x="900400" y="2588700"/>
            <a:ext cx="9956700" cy="2429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s-CL" sz="1200">
                <a:solidFill>
                  <a:schemeClr val="dk1"/>
                </a:solidFill>
              </a:rPr>
              <a:t>El control de versión utilizado es el </a:t>
            </a:r>
            <a:r>
              <a:rPr b="1" lang="es-CL" sz="1200">
                <a:solidFill>
                  <a:schemeClr val="dk1"/>
                </a:solidFill>
              </a:rPr>
              <a:t>secuencial</a:t>
            </a:r>
            <a:r>
              <a:rPr lang="es-CL" sz="1200">
                <a:solidFill>
                  <a:schemeClr val="dk1"/>
                </a:solidFill>
              </a:rPr>
              <a:t>, y le agregamos la fecha de este mismo en un apartado txt., para proporcionar más información sobre los cambios, así podremos identificar cuando se realizaron los cambios de la versión, y si es que son principales, secundarios o parches.</a:t>
            </a:r>
            <a:endParaRPr sz="1200">
              <a:solidFill>
                <a:srgbClr val="434343"/>
              </a:solidFill>
              <a:latin typeface="Roboto"/>
              <a:ea typeface="Roboto"/>
              <a:cs typeface="Roboto"/>
              <a:sym typeface="Roboto"/>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304" name="Google Shape;304;p36"/>
          <p:cNvPicPr preferRelativeResize="0"/>
          <p:nvPr/>
        </p:nvPicPr>
        <p:blipFill>
          <a:blip r:embed="rId4">
            <a:alphaModFix/>
          </a:blip>
          <a:stretch>
            <a:fillRect/>
          </a:stretch>
        </p:blipFill>
        <p:spPr>
          <a:xfrm>
            <a:off x="1216725" y="3590875"/>
            <a:ext cx="1428750" cy="704850"/>
          </a:xfrm>
          <a:prstGeom prst="rect">
            <a:avLst/>
          </a:prstGeom>
          <a:noFill/>
          <a:ln>
            <a:noFill/>
          </a:ln>
        </p:spPr>
      </p:pic>
      <p:pic>
        <p:nvPicPr>
          <p:cNvPr id="305" name="Google Shape;305;p36"/>
          <p:cNvPicPr preferRelativeResize="0"/>
          <p:nvPr/>
        </p:nvPicPr>
        <p:blipFill>
          <a:blip r:embed="rId5">
            <a:alphaModFix/>
          </a:blip>
          <a:stretch>
            <a:fillRect/>
          </a:stretch>
        </p:blipFill>
        <p:spPr>
          <a:xfrm>
            <a:off x="3124050" y="3581363"/>
            <a:ext cx="1304925" cy="723900"/>
          </a:xfrm>
          <a:prstGeom prst="rect">
            <a:avLst/>
          </a:prstGeom>
          <a:noFill/>
          <a:ln>
            <a:noFill/>
          </a:ln>
        </p:spPr>
      </p:pic>
      <p:pic>
        <p:nvPicPr>
          <p:cNvPr id="306" name="Google Shape;306;p36"/>
          <p:cNvPicPr preferRelativeResize="0"/>
          <p:nvPr/>
        </p:nvPicPr>
        <p:blipFill>
          <a:blip r:embed="rId6">
            <a:alphaModFix/>
          </a:blip>
          <a:stretch>
            <a:fillRect/>
          </a:stretch>
        </p:blipFill>
        <p:spPr>
          <a:xfrm>
            <a:off x="4840038" y="3538475"/>
            <a:ext cx="1304925" cy="809625"/>
          </a:xfrm>
          <a:prstGeom prst="rect">
            <a:avLst/>
          </a:prstGeom>
          <a:noFill/>
          <a:ln>
            <a:noFill/>
          </a:ln>
        </p:spPr>
      </p:pic>
      <p:pic>
        <p:nvPicPr>
          <p:cNvPr id="307" name="Google Shape;307;p36"/>
          <p:cNvPicPr preferRelativeResize="0"/>
          <p:nvPr/>
        </p:nvPicPr>
        <p:blipFill>
          <a:blip r:embed="rId7">
            <a:alphaModFix/>
          </a:blip>
          <a:stretch>
            <a:fillRect/>
          </a:stretch>
        </p:blipFill>
        <p:spPr>
          <a:xfrm>
            <a:off x="6725325" y="3538475"/>
            <a:ext cx="1343025" cy="771525"/>
          </a:xfrm>
          <a:prstGeom prst="rect">
            <a:avLst/>
          </a:prstGeom>
          <a:noFill/>
          <a:ln>
            <a:noFill/>
          </a:ln>
        </p:spPr>
      </p:pic>
      <p:pic>
        <p:nvPicPr>
          <p:cNvPr id="308" name="Google Shape;308;p36"/>
          <p:cNvPicPr preferRelativeResize="0"/>
          <p:nvPr/>
        </p:nvPicPr>
        <p:blipFill>
          <a:blip r:embed="rId8">
            <a:alphaModFix/>
          </a:blip>
          <a:stretch>
            <a:fillRect/>
          </a:stretch>
        </p:blipFill>
        <p:spPr>
          <a:xfrm>
            <a:off x="8967375" y="3581338"/>
            <a:ext cx="1323975" cy="685800"/>
          </a:xfrm>
          <a:prstGeom prst="rect">
            <a:avLst/>
          </a:prstGeom>
          <a:noFill/>
          <a:ln>
            <a:noFill/>
          </a:ln>
        </p:spPr>
      </p:pic>
      <p:sp>
        <p:nvSpPr>
          <p:cNvPr id="309" name="Google Shape;309;p36"/>
          <p:cNvSpPr txBox="1"/>
          <p:nvPr/>
        </p:nvSpPr>
        <p:spPr>
          <a:xfrm>
            <a:off x="1441150" y="4554275"/>
            <a:ext cx="1081500" cy="463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CL" sz="1200">
                <a:solidFill>
                  <a:schemeClr val="dk1"/>
                </a:solidFill>
              </a:rPr>
              <a:t>05/06/2026</a:t>
            </a:r>
            <a:endParaRPr sz="1800">
              <a:solidFill>
                <a:srgbClr val="434343"/>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310" name="Google Shape;310;p36"/>
          <p:cNvSpPr txBox="1"/>
          <p:nvPr/>
        </p:nvSpPr>
        <p:spPr>
          <a:xfrm>
            <a:off x="3216100" y="4583825"/>
            <a:ext cx="963000" cy="404400"/>
          </a:xfrm>
          <a:prstGeom prst="rect">
            <a:avLst/>
          </a:prstGeom>
          <a:noFill/>
          <a:ln>
            <a:noFill/>
          </a:ln>
        </p:spPr>
        <p:txBody>
          <a:bodyPr anchorCtr="0" anchor="t" bIns="91425" lIns="91425" spcFirstLastPara="1" rIns="91425" wrap="square" tIns="91425">
            <a:normAutofit/>
          </a:bodyPr>
          <a:lstStyle/>
          <a:p>
            <a:pPr indent="0" lvl="0" marL="0" rtl="0" algn="just">
              <a:spcBef>
                <a:spcPts val="0"/>
              </a:spcBef>
              <a:spcAft>
                <a:spcPts val="0"/>
              </a:spcAft>
              <a:buNone/>
            </a:pPr>
            <a:r>
              <a:rPr lang="es-CL" sz="1200"/>
              <a:t>09/06/2026</a:t>
            </a:r>
            <a:endParaRPr sz="1800">
              <a:solidFill>
                <a:srgbClr val="434343"/>
              </a:solidFill>
              <a:latin typeface="Roboto"/>
              <a:ea typeface="Roboto"/>
              <a:cs typeface="Roboto"/>
              <a:sym typeface="Roboto"/>
            </a:endParaRPr>
          </a:p>
        </p:txBody>
      </p:sp>
      <p:sp>
        <p:nvSpPr>
          <p:cNvPr id="311" name="Google Shape;311;p36"/>
          <p:cNvSpPr txBox="1"/>
          <p:nvPr/>
        </p:nvSpPr>
        <p:spPr>
          <a:xfrm>
            <a:off x="4945329" y="4554275"/>
            <a:ext cx="1019100" cy="404400"/>
          </a:xfrm>
          <a:prstGeom prst="rect">
            <a:avLst/>
          </a:prstGeom>
          <a:noFill/>
          <a:ln>
            <a:noFill/>
          </a:ln>
        </p:spPr>
        <p:txBody>
          <a:bodyPr anchorCtr="0" anchor="t" bIns="91425" lIns="91425" spcFirstLastPara="1" rIns="91425" wrap="square" tIns="91425">
            <a:normAutofit/>
          </a:bodyPr>
          <a:lstStyle/>
          <a:p>
            <a:pPr indent="0" lvl="0" marL="0" rtl="0" algn="just">
              <a:spcBef>
                <a:spcPts val="0"/>
              </a:spcBef>
              <a:spcAft>
                <a:spcPts val="0"/>
              </a:spcAft>
              <a:buNone/>
            </a:pPr>
            <a:r>
              <a:rPr lang="es-CL" sz="1200"/>
              <a:t>12/06/2026</a:t>
            </a:r>
            <a:endParaRPr sz="1800">
              <a:solidFill>
                <a:srgbClr val="434343"/>
              </a:solidFill>
              <a:latin typeface="Roboto"/>
              <a:ea typeface="Roboto"/>
              <a:cs typeface="Roboto"/>
              <a:sym typeface="Roboto"/>
            </a:endParaRPr>
          </a:p>
        </p:txBody>
      </p:sp>
      <p:sp>
        <p:nvSpPr>
          <p:cNvPr id="312" name="Google Shape;312;p36"/>
          <p:cNvSpPr txBox="1"/>
          <p:nvPr/>
        </p:nvSpPr>
        <p:spPr>
          <a:xfrm>
            <a:off x="6803305" y="4554275"/>
            <a:ext cx="1081500" cy="404400"/>
          </a:xfrm>
          <a:prstGeom prst="rect">
            <a:avLst/>
          </a:prstGeom>
          <a:noFill/>
          <a:ln>
            <a:noFill/>
          </a:ln>
        </p:spPr>
        <p:txBody>
          <a:bodyPr anchorCtr="0" anchor="t" bIns="91425" lIns="91425" spcFirstLastPara="1" rIns="91425" wrap="square" tIns="91425">
            <a:normAutofit/>
          </a:bodyPr>
          <a:lstStyle/>
          <a:p>
            <a:pPr indent="0" lvl="0" marL="0" rtl="0" algn="just">
              <a:spcBef>
                <a:spcPts val="0"/>
              </a:spcBef>
              <a:spcAft>
                <a:spcPts val="0"/>
              </a:spcAft>
              <a:buNone/>
            </a:pPr>
            <a:r>
              <a:rPr lang="es-CL" sz="1200"/>
              <a:t>19/06/2026</a:t>
            </a:r>
            <a:endParaRPr sz="1800">
              <a:solidFill>
                <a:srgbClr val="434343"/>
              </a:solidFill>
              <a:latin typeface="Roboto"/>
              <a:ea typeface="Roboto"/>
              <a:cs typeface="Roboto"/>
              <a:sym typeface="Roboto"/>
            </a:endParaRPr>
          </a:p>
        </p:txBody>
      </p:sp>
      <p:sp>
        <p:nvSpPr>
          <p:cNvPr id="313" name="Google Shape;313;p36"/>
          <p:cNvSpPr txBox="1"/>
          <p:nvPr/>
        </p:nvSpPr>
        <p:spPr>
          <a:xfrm>
            <a:off x="9004606" y="4554275"/>
            <a:ext cx="1140000" cy="404400"/>
          </a:xfrm>
          <a:prstGeom prst="rect">
            <a:avLst/>
          </a:prstGeom>
          <a:noFill/>
          <a:ln>
            <a:noFill/>
          </a:ln>
        </p:spPr>
        <p:txBody>
          <a:bodyPr anchorCtr="0" anchor="t" bIns="91425" lIns="91425" spcFirstLastPara="1" rIns="91425" wrap="square" tIns="91425">
            <a:normAutofit/>
          </a:bodyPr>
          <a:lstStyle/>
          <a:p>
            <a:pPr indent="0" lvl="0" marL="0" rtl="0" algn="just">
              <a:spcBef>
                <a:spcPts val="0"/>
              </a:spcBef>
              <a:spcAft>
                <a:spcPts val="0"/>
              </a:spcAft>
              <a:buNone/>
            </a:pPr>
            <a:r>
              <a:rPr lang="es-CL" sz="1200"/>
              <a:t>23/06/2026</a:t>
            </a:r>
            <a:endParaRPr sz="1800">
              <a:solidFill>
                <a:srgbClr val="434343"/>
              </a:solidFill>
              <a:latin typeface="Roboto"/>
              <a:ea typeface="Roboto"/>
              <a:cs typeface="Roboto"/>
              <a:sym typeface="Roboto"/>
            </a:endParaRPr>
          </a:p>
        </p:txBody>
      </p:sp>
    </p:spTree>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EscuelaIT Duoc UC - Escuela de Informática y Telecomunicaciones Duoc UC - Duoc  UC | LinkedIn" id="318" name="Google Shape;318;p37"/>
          <p:cNvPicPr preferRelativeResize="0"/>
          <p:nvPr/>
        </p:nvPicPr>
        <p:blipFill rotWithShape="1">
          <a:blip r:embed="rId3">
            <a:alphaModFix/>
          </a:blip>
          <a:srcRect b="0" l="0" r="0" t="0"/>
          <a:stretch/>
        </p:blipFill>
        <p:spPr>
          <a:xfrm>
            <a:off x="8772152" y="207550"/>
            <a:ext cx="3141406" cy="785352"/>
          </a:xfrm>
          <a:prstGeom prst="rect">
            <a:avLst/>
          </a:prstGeom>
          <a:noFill/>
          <a:ln>
            <a:noFill/>
          </a:ln>
        </p:spPr>
      </p:pic>
      <p:sp>
        <p:nvSpPr>
          <p:cNvPr id="319" name="Google Shape;319;p37"/>
          <p:cNvSpPr txBox="1"/>
          <p:nvPr/>
        </p:nvSpPr>
        <p:spPr>
          <a:xfrm>
            <a:off x="0" y="3044279"/>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PREGUNTAS DE LA COMISIÓN</a:t>
            </a:r>
            <a:endParaRPr/>
          </a:p>
        </p:txBody>
      </p:sp>
    </p:spTree>
  </p:cSld>
  <p:clrMapOvr>
    <a:masterClrMapping/>
  </p:clrMapOvr>
  <p:transition spd="slow">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